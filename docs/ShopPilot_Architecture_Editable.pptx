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Multi-turn loop — state is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Each turn: past SessionState + current text → Top-10 + one ask. Catalog immutable. LLM optional / 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14884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slots · family · audience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205740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41732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417320"/>
            <a:ext cx="21488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160020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19456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FTS5 + dense hash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19472" y="205740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141732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417320"/>
            <a:ext cx="21488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0" y="160020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19456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coverage · priors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51192" y="205740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41732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417320"/>
            <a:ext cx="21488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43800" y="160020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19456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other-first ladder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82912" y="205740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59" y="141732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59" y="1417320"/>
            <a:ext cx="2148840" cy="73152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19" y="1600200"/>
            <a:ext cx="384048" cy="384048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39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219456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msg + ask + Top-10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24612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246120"/>
            <a:ext cx="9144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290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SessionState  ·  mutable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31920"/>
            <a:ext cx="32004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soft | disclosed | override sources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family · audience · asked / filled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soft-only wipe on mind-change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next turn = same session_id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24612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3246120"/>
            <a:ext cx="91440" cy="2926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4290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3931920"/>
            <a:ext cx="32004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MiniLM opt-in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50k CSJ freeze · no turn writes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24612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3246120"/>
            <a:ext cx="91440" cy="2926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2D8F"/>
                </a:solidFill>
                <a:latin typeface="Calibri"/>
              </a:rPr>
              <a:t>Optional LLM  ·  gated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931920"/>
            <a:ext cx="32004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slots NLU + top-20 rerank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fail-open timeout →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NOT on default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tokens on default path: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04  ·  ARCHITECTURE IN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Classical CRS stack → ShopPilot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Editable shapes (not paper screenshots)  ·  Qulac · Bayesian CRS · DST · corpus CQs · hybrid 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A  ·  CLASSICAL CRS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utterance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87168" y="1874519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155448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6916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NLU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574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intents+slots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27448" y="1874519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55448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6916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DST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574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belief state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67728" y="1874519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55448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6916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0574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ask/recommend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08008" y="1874519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155448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6916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NLG/IR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0574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msg +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0604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55F7"/>
                </a:solidFill>
                <a:latin typeface="Calibri"/>
              </a:rPr>
              <a:t>B  ·  DIALOG STATE 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0175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Utterance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3375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text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069080" y="3200400"/>
            <a:ext cx="18288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292608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State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3375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slots · sources · wipe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909560" y="3200400"/>
            <a:ext cx="18288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292608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0175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SessionState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375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soft|disclosed|override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8620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C  ·  CLARIFYING QUESTIONS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16052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9768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Theory (ablated)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51206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max E[IG] / min H(posterior)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Bayesian CRS · pool entropy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brand/store splits look high-IG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on THIS kit → Tech ~0.72  REJECT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16052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ShopPilot ship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663440"/>
            <a:ext cx="51206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other-first + static ladder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skip filled / dont_care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corpus facets in MESSAGE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protocol-aligned CQ · Tech ~0.91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05  ·  ARCHITECTURE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End-to-end system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Native PowerPoint shapes — fully editable in Canva / Keynote / PPT  ·  Tech 0.909 · Hit 0.975 · 0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0D4FF"/>
                </a:solidFill>
                <a:latin typeface="Calibri"/>
              </a:rP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1554480" cy="141732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CLI / Eval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reset · respond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User turn 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text +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234440"/>
            <a:ext cx="5486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HOT PATH  ·  Agent.respond (sync)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508760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67128" y="1691640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7190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194560"/>
            <a:ext cx="1508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slots · family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67327" y="2011680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50208" y="1508760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59936" y="1691640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17190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6" y="2194560"/>
            <a:ext cx="1508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FTS5 + dense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60136" y="2011680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43016" y="1508760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52744" y="1691640"/>
            <a:ext cx="329184" cy="3291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7190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2194560"/>
            <a:ext cx="1508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coverage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552944" y="2011680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35824" y="1508760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5552" y="169164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17190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194560"/>
            <a:ext cx="1508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other-first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45752" y="2011680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28632" y="1508760"/>
            <a:ext cx="1691640" cy="12344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38360" y="1691640"/>
            <a:ext cx="329184" cy="329184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1552" y="17190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194560"/>
            <a:ext cx="1508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Top-10 + ask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874519" y="2011680"/>
            <a:ext cx="164592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972800" y="1783080"/>
            <a:ext cx="960120" cy="64008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0" y="1920240"/>
            <a:ext cx="960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→ client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744200" y="2011680"/>
            <a:ext cx="182880" cy="182880"/>
          </a:xfrm>
          <a:prstGeom prst="rightArrow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2697480" y="2788920"/>
            <a:ext cx="182880" cy="320040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283464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write</a:t>
            </a:r>
          </a:p>
        </p:txBody>
      </p:sp>
      <p:sp>
        <p:nvSpPr>
          <p:cNvPr id="42" name="Up Arrow 41"/>
          <p:cNvSpPr/>
          <p:nvPr/>
        </p:nvSpPr>
        <p:spPr>
          <a:xfrm>
            <a:off x="4480560" y="2788920"/>
            <a:ext cx="182880" cy="320040"/>
          </a:xfrm>
          <a:prstGeom prst="up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2834640"/>
            <a:ext cx="502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read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200400"/>
            <a:ext cx="5394960" cy="2926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200400"/>
            <a:ext cx="9144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3375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SessionState  ·  mutable 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749039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Slots   soft | disclosed | override · filled / asked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Route   product_family · gift audience · buy/browse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Clean   soft-only wipe · never re-ask filled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Loop    next turn = past state + current 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440680"/>
            <a:ext cx="4937760" cy="50292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53212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INVARIANT  t3 "black" ranks with dress+plus+black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97880" y="3200400"/>
            <a:ext cx="3017520" cy="2926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97880" y="3200400"/>
            <a:ext cx="91440" cy="2926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3375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794760"/>
            <a:ext cx="265176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MiniLM opt-in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_products · 50k CSJ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no writes at turn time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8280" y="3200400"/>
            <a:ext cx="2788920" cy="15544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8280" y="3200400"/>
            <a:ext cx="91440" cy="15544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329184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Optional LLM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3611880"/>
            <a:ext cx="2423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OFF · not on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NLU · rerank top-20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timeout → rules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4937760"/>
            <a:ext cx="2788920" cy="118872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507492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Measure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39496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Hit · MRR · MTTC → Tech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public 200 · guardrail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6217920"/>
            <a:ext cx="11567160" cy="292608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236208"/>
            <a:ext cx="11567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next turn ↺  same session_id   ·   state write/read   ·   catalog index read-only   ·   LLM off score path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