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Weak BM25</c:v>
                </c:pt>
              </c:strCache>
            </c:strRef>
          </c:tx>
          <c:spPr>
            <a:solidFill>
              <a:srgbClr val="64748B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0.107</c:v>
                </c:pt>
                <c:pt idx="1">
                  <c:v>0.125</c:v>
                </c:pt>
                <c:pt idx="2">
                  <c:v>0.068</c:v>
                </c:pt>
                <c:pt idx="3">
                  <c:v>0.119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ShopPilot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0.907</c:v>
                </c:pt>
                <c:pt idx="1">
                  <c:v>0.975</c:v>
                </c:pt>
                <c:pt idx="2">
                  <c:v>0.858</c:v>
                </c:pt>
                <c:pt idx="3">
                  <c:v>0.813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0.975</c:v>
                </c:pt>
                <c:pt idx="1">
                  <c:v>0.975</c:v>
                </c:pt>
                <c:pt idx="2">
                  <c:v>0.967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FF2D8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0.856</c:v>
                </c:pt>
                <c:pt idx="1">
                  <c:v>0.846</c:v>
                </c:pt>
                <c:pt idx="2">
                  <c:v>0.868</c:v>
                </c:pt>
                <c:pt idx="3">
                  <c:v>0.933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04672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114800"/>
            <a:ext cx="50292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TECHJAM 2026  ·  TRACK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800" b="1">
                <a:solidFill>
                  <a:srgbClr val="00D4FF"/>
                </a:solidFill>
                <a:latin typeface="Calibri"/>
              </a:rPr>
              <a:t>Shop</a:t>
            </a:r>
            <a:r>
              <a:rPr sz="5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Hybrid FTS +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Stateful DST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Clarify ≤10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Tech 0.907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Demo UI: Astrid CLI  ·  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Public 200  ·  Hit@10 0.975  ·  MTTC 2.88  ·  tokens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 ·  Astrid theme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Keyword search breaks on real shopping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Vague goals, dual-meaning SKUs, mid-session mind-change, and a hard ≤10-turn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Vague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"something nice for summer"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554480"/>
            <a:ext cx="274320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Ambiguity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dress vs dress shoes  ·  gift for my 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554480"/>
            <a:ext cx="274320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Mind-change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intent override mid-session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55448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Turn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miss after turn 10 → session fails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2920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Scored job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Find the hidden parent_asin in ≤10 turns on a frozen 50k CSJ catalog  ·  Hit@10 · MRR · MTTC → TechnicalScore = 0.5·Hit + 0.3·MRR + 0.2·Efficiency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02  ·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Headless offline agent — one turn, three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respond() returns message + one ask_attribute + Top-10 ASINs. No required LLM.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01168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43560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554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8191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Buy / browse · family · audience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880359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377439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30428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42315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45059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Slots · override hygiene · multi-fill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74904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317296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2918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31927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FTS5 OR/AND + dense hash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61772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04164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00200" y="416052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Clarify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8795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other-first · skip filled · ≤10 turns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983479"/>
            <a:ext cx="457200" cy="45720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91032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02919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05663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Constraint coverage · family · light priors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03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Multi-turn loop — state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turn: past SessionState + current text → Top-10 + one ask. Catalog immutable. LLM optional /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214884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slots · family · audience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8775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463040"/>
            <a:ext cx="214884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60" y="1691640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FTS5 + dense hash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1947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463040"/>
            <a:ext cx="214884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2080" y="1691640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coverage · priors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5119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1463040"/>
            <a:ext cx="214884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43800" y="1691640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other-first ladder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8291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59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38359" y="1463040"/>
            <a:ext cx="214884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75519" y="1691640"/>
            <a:ext cx="384048" cy="384048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39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Respond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19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msg + ask + Top-10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383280"/>
            <a:ext cx="91440" cy="27889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SessionState  ·  mutable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 | disclosed | override sources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family · audience · asked / filled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soft-only wipe on mind-change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next turn = same session_id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4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6240" y="3383280"/>
            <a:ext cx="91440" cy="27889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Catalog  ·  immutable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FTS5 BM25 in-memory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dense hash 512-d default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MiniLM opt-in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50k CSJ freeze · no turn writes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1000" y="3383280"/>
            <a:ext cx="91440" cy="278892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Optional LLM  ·  gated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slots NLU + top-20 rerank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fail-open timeout →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NOT on default score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tokens on default path: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04  ·  ARCHITECTURE IN THE LITERATURE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Calibri"/>
              </a:rPr>
              <a:t>Classical CRS stack → ShopPilot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Redrawn concepts — not paper screenshots  ·  Qulac · Bayesian CRS · DST · corpus CQs · hybrid IR</a:t>
            </a:r>
          </a:p>
        </p:txBody>
      </p:sp>
      <p:pic>
        <p:nvPicPr>
          <p:cNvPr id="7" name="Picture 6" descr="architecture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051560"/>
            <a:ext cx="11795760" cy="5349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05  ·  ARCHITECTURE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Calibri"/>
              </a:rPr>
              <a:t>End-to-end system diagram</a:t>
            </a:r>
          </a:p>
        </p:txBody>
      </p:sp>
      <p:pic>
        <p:nvPicPr>
          <p:cNvPr id="6" name="Picture 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868680"/>
            <a:ext cx="11795760" cy="5623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06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Public 200 — weak BM25 vs ShopPilot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Official local_evaluator · SHOPPILOT_DENSE=hash · deterministic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TechnicalScore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00D4FF"/>
                </a:solidFill>
                <a:latin typeface="Calibri"/>
              </a:rPr>
              <a:t>from 0.107  ·  ~8.5×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54864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2D8F"/>
                </a:solidFill>
                <a:latin typeface="Calibri"/>
              </a:rPr>
              <a:t>from 0.125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0.858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55F7"/>
                </a:solidFill>
                <a:latin typeface="Calibri"/>
              </a:rPr>
              <a:t>from 0.068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2.88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from 9.81 turns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00400"/>
            <a:ext cx="685800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9184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9BB4"/>
                </a:solidFill>
                <a:latin typeface="Calibri"/>
              </a:rPr>
              <a:t>Metric comparison (higher better; MTTC inverted scale n/a)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40080" y="3566160"/>
          <a:ext cx="658368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7589520" y="3200400"/>
            <a:ext cx="406908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73152" cy="310896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3383280"/>
            <a:ext cx="365760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What moved the needle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Override hygiene (soft-only wipe)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Hybrid dense hash lane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Family + audience routing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other-first clarify policy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Multi-slot freeform atomize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Cold-start profile/rating priors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Each kept only if Tech ≥ floor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Tokens default path: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07  ·  BY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Hit@10 holds across buying, browse, override,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Override pays more MTTC (mind-change cost) but still Hit 0.967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6949440" cy="475488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Hit@10 by scenario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828800"/>
          <a:ext cx="66751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1417320"/>
            <a:ext cx="3931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MTTC (turns to first hit)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87451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87451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03911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Buying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01167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2.45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46887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79"/>
            <a:ext cx="851306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292607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926079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09067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Browsing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06323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2.79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3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55279" y="3520439"/>
            <a:ext cx="969446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397763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414223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Override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11479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4.20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57199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4571999"/>
            <a:ext cx="1459382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5029200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0" y="5029200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193792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51663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3.00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5623560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79" y="5623560"/>
            <a:ext cx="1042415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08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Astrid CLI — live multi-turn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python3 cli_chat.py --dense hash   ·   /new  /state  /quit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7040880" cy="4754880"/>
          </a:xfrm>
          <a:prstGeom prst="roundRect">
            <a:avLst>
              <a:gd name="adj" fmla="val 8000"/>
            </a:avLst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7040880" cy="365760"/>
          </a:xfrm>
          <a:prstGeom prst="rect">
            <a:avLst/>
          </a:prstGeom>
          <a:solidFill>
            <a:srgbClr val="12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97864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4630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astrid — dense=hash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65836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$ python3 cli_chat.py --dense hash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  Astrid  ·  quiet clarity for every aisle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shoes for my 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Got it (footwear; boys). Any color…?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  ↳ ask · other     Top-3 footwear titles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Actually forget sneakers, dress shoes size 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Updated (footwear; size 9). Color?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7185"/>
                </a:solidFill>
                <a:latin typeface="Calibri"/>
              </a:rPr>
              <a:t>  ↳ override wiped soft prefs · kept size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  /state → family=footwear  size=9  asked={other}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4173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417320"/>
            <a:ext cx="73152" cy="137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64592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Vague → clarify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dress + exploring → other → plus size locks size (no re-ask)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97180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2971800"/>
            <a:ext cx="73152" cy="13716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32004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Family 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"dress sandals" → footwear, not garment dresses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52628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4526280"/>
            <a:ext cx="73152" cy="137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47548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Intent override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6636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running shoes → dress shoes; size 9 persists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09  ·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Kit metrics → merchant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Honest framing: offline simulation ≠ live GMV A/B — same job-to-be-done as conversational commerce.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91440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0D4FF"/>
                </a:solidFill>
                <a:latin typeface="Calibri"/>
              </a:rPr>
              <a:t>0.975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Findability — target ASIN in top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91440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1576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2D8F"/>
                </a:solidFill>
                <a:latin typeface="Calibri"/>
              </a:rPr>
              <a:t>0.858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8892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Rank quality — earlier positions 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6616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91440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6732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A855F7"/>
                </a:solidFill>
                <a:latin typeface="Calibri"/>
              </a:rPr>
              <a:t>2.88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84048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Cost / cognitive load — fewer refine loops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17720"/>
            <a:ext cx="9144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7375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1888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89204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Offline default — no paid LLM on score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-914400"/>
            <a:ext cx="5486400" cy="50292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097280" y="3840480"/>
            <a:ext cx="45720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THANKS  · 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D4FF"/>
                </a:solidFill>
                <a:latin typeface="Calibri"/>
              </a:rPr>
              <a:t>Shop</a:t>
            </a:r>
            <a:r>
              <a:rPr sz="4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00D4FF"/>
                </a:solidFill>
                <a:latin typeface="Calibri"/>
              </a:rPr>
              <a:t>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Astrid CLI  ·  Tech 0.907  ·  Hit@10 0.975  ·  MTTC 2.88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Live demo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Reproduce: local_evaluator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Track 4 · CSJ 50k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TechJam 2026 Track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