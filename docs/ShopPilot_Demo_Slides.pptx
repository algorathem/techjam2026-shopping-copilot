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Weak BM25</c:v>
                </c:pt>
              </c:strCache>
            </c:strRef>
          </c:tx>
          <c:spPr>
            <a:solidFill>
              <a:srgbClr val="64748B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Tech</c:v>
                </c:pt>
                <c:pt idx="1">
                  <c:v>Hit@10</c:v>
                </c:pt>
                <c:pt idx="2">
                  <c:v>MRR</c:v>
                </c:pt>
                <c:pt idx="3">
                  <c:v>Efficiency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0.107</c:v>
                </c:pt>
                <c:pt idx="1">
                  <c:v>0.125</c:v>
                </c:pt>
                <c:pt idx="2">
                  <c:v>0.068</c:v>
                </c:pt>
                <c:pt idx="3">
                  <c:v>0.119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ShopPilot</c:v>
                </c:pt>
              </c:strCache>
            </c:strRef>
          </c:tx>
          <c:spPr>
            <a:solidFill>
              <a:srgbClr val="00D4F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Tech</c:v>
                </c:pt>
                <c:pt idx="1">
                  <c:v>Hit@10</c:v>
                </c:pt>
                <c:pt idx="2">
                  <c:v>MRR</c:v>
                </c:pt>
                <c:pt idx="3">
                  <c:v>Efficiency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0.907</c:v>
                </c:pt>
                <c:pt idx="1">
                  <c:v>0.975</c:v>
                </c:pt>
                <c:pt idx="2">
                  <c:v>0.858</c:v>
                </c:pt>
                <c:pt idx="3">
                  <c:v>0.813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100">
                <a:solidFill>
                  <a:srgbClr val="8B9BB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3A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000">
                <a:solidFill>
                  <a:srgbClr val="8B9BB4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8B9BB4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Hit@10</c:v>
                </c:pt>
              </c:strCache>
            </c:strRef>
          </c:tx>
          <c:spPr>
            <a:solidFill>
              <a:srgbClr val="00D4F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Buying</c:v>
                </c:pt>
                <c:pt idx="1">
                  <c:v>Browsing</c:v>
                </c:pt>
                <c:pt idx="2">
                  <c:v>Override</c:v>
                </c:pt>
                <c:pt idx="3">
                  <c:v>Boundary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0.975</c:v>
                </c:pt>
                <c:pt idx="1">
                  <c:v>0.975</c:v>
                </c:pt>
                <c:pt idx="2">
                  <c:v>0.967</c:v>
                </c:pt>
                <c:pt idx="3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FF2D8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Buying</c:v>
                </c:pt>
                <c:pt idx="1">
                  <c:v>Browsing</c:v>
                </c:pt>
                <c:pt idx="2">
                  <c:v>Override</c:v>
                </c:pt>
                <c:pt idx="3">
                  <c:v>Boundary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0.856</c:v>
                </c:pt>
                <c:pt idx="1">
                  <c:v>0.846</c:v>
                </c:pt>
                <c:pt idx="2">
                  <c:v>0.868</c:v>
                </c:pt>
                <c:pt idx="3">
                  <c:v>0.933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100">
                <a:solidFill>
                  <a:srgbClr val="8B9BB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2A3A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000">
                <a:solidFill>
                  <a:srgbClr val="8B9BB4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8B9BB4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046720" y="-109728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A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1371600" y="4114800"/>
            <a:ext cx="5029200" cy="4114800"/>
          </a:xfrm>
          <a:prstGeom prst="roundRect">
            <a:avLst>
              <a:gd name="adj" fmla="val 50000"/>
            </a:avLst>
          </a:prstGeom>
          <a:solidFill>
            <a:srgbClr val="0C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2D8F"/>
                </a:solidFill>
                <a:latin typeface="Calibri"/>
              </a:rPr>
              <a:t>TECHJAM 2026  ·  TRACK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800" b="1">
                <a:solidFill>
                  <a:srgbClr val="00D4FF"/>
                </a:solidFill>
                <a:latin typeface="Calibri"/>
              </a:rPr>
              <a:t>Shop</a:t>
            </a:r>
            <a:r>
              <a:rPr sz="5800" b="1">
                <a:solidFill>
                  <a:srgbClr val="FF2D8F"/>
                </a:solidFill>
                <a:latin typeface="Calibri"/>
              </a:rPr>
              <a:t>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F8FAFC"/>
                </a:solidFill>
                <a:latin typeface="Calibri"/>
              </a:rPr>
              <a:t>Offline-first multi-turn shopping copilot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Hybrid FTS +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Stateful DST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Clarify ≤10 turns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Tech 0.907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5488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alibri"/>
              </a:rPr>
              <a:t>Demo UI: Astrid CLI  ·  github.com/algorathem/techjam2026-shopping-copilot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Public 200  ·  Hit@10 0.975  ·  MTTC 2.88  ·  tokens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 ·  Astrid theme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01  ·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Keyword search breaks on real shopping 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Vague goals, dual-meaning SKUs, mid-session mind-change, and a hard ≤10-turn budget.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27432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Vague queries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"something nice for summer"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554480"/>
            <a:ext cx="2743200" cy="73152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2D8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Ambiguity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dress vs dress shoes  ·  gift for my 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554480"/>
            <a:ext cx="2743200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Mind-change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intent override mid-session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554480"/>
            <a:ext cx="274320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Turn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miss after turn 10 → session fails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2920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1A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2D8F"/>
                </a:solidFill>
                <a:latin typeface="Calibri"/>
              </a:rPr>
              <a:t>Scored job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Find the hidden parent_asin in ≤10 turns on a frozen 50k CSJ catalog  ·  Hit@10 · MRR · MTTC → TechnicalScore = 0.5·Hit + 0.3·MRR + 0.2·Efficiency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02  ·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Headless offline agent — one turn, three outputs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Each respond() returns message + one ask_attribute + Top-10 ASINs. No required LLM.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01168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43560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15544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Intent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8191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Buy / browse · family · audience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880359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2377439"/>
            <a:ext cx="457200" cy="457200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2304287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423159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450591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Slots · override hygiene · multi-fill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374904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317296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32918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Retrieve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31927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FTS5 OR/AND + dense hash hybrid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461772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404164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00200" y="416052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Clarify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18795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other-first · skip filled · ≤10 turns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4983479"/>
            <a:ext cx="457200" cy="45720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0" y="4910327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029199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Rank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5056631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Constraint coverage · family · light priors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03  · 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Multi-turn loop — state is 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Each turn: past SessionState + current text → Top-10 + one ask. Catalog immutable. LLM optional /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63040"/>
            <a:ext cx="2148840" cy="169164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214884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3736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slots · family · audience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87752" y="214884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0" y="1463040"/>
            <a:ext cx="2148840" cy="169164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1463040"/>
            <a:ext cx="2148840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80360" y="1691640"/>
            <a:ext cx="384048" cy="384048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73736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Retrieve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33172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FTS5 + dense hash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19472" y="214884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74920" y="1463040"/>
            <a:ext cx="2148840" cy="169164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1463040"/>
            <a:ext cx="214884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12080" y="1691640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173736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Rank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33172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coverage · priors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51192" y="214884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06640" y="1463040"/>
            <a:ext cx="2148840" cy="169164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06640" y="1463040"/>
            <a:ext cx="214884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43800" y="1691640"/>
            <a:ext cx="384048" cy="38404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9" y="173736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33172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other-first ladder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82912" y="214884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59" y="1463040"/>
            <a:ext cx="2148840" cy="169164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38359" y="1463040"/>
            <a:ext cx="2148840" cy="73152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875519" y="1691640"/>
            <a:ext cx="384048" cy="384048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78439" y="173736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Respond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19" y="233172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msg + ask + Top-10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3383280"/>
            <a:ext cx="3611880" cy="278892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3383280"/>
            <a:ext cx="91440" cy="27889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566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SessionState  ·  mutable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4069080"/>
            <a:ext cx="320040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soft | disclosed | override sources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family · audience · asked / filled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soft-only wipe on mind-change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next turn = same session_id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06240" y="3383280"/>
            <a:ext cx="3611880" cy="278892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06240" y="3383280"/>
            <a:ext cx="91440" cy="27889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34840" y="3566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855F7"/>
                </a:solidFill>
                <a:latin typeface="Calibri"/>
              </a:rPr>
              <a:t>Catalog  ·  immutable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4840" y="4069080"/>
            <a:ext cx="320040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FTS5 BM25 in-memory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dense hash 512-d default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MiniLM opt-in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50k CSJ freeze · no turn writes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01000" y="3383280"/>
            <a:ext cx="3611880" cy="278892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01000" y="3383280"/>
            <a:ext cx="91440" cy="278892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0" y="3566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2D8F"/>
                </a:solidFill>
                <a:latin typeface="Calibri"/>
              </a:rPr>
              <a:t>Optional LLM  ·  gated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4069080"/>
            <a:ext cx="320040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slots NLU + top-20 rerank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fail-open timeout → rules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NOT on default score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tokens on default path: 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04  ·  ARCHITECTURE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Calibri"/>
              </a:rPr>
              <a:t>End-to-end system diagram</a:t>
            </a:r>
          </a:p>
        </p:txBody>
      </p:sp>
      <p:pic>
        <p:nvPicPr>
          <p:cNvPr id="6" name="Picture 5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868680"/>
            <a:ext cx="11795760" cy="5623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05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Public 200 — weak BM25 vs ShopPilot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Official local_evaluator · SHOPPILOT_DENSE=hash · deterministic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743200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TechnicalScore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0.907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00D4FF"/>
                </a:solidFill>
                <a:latin typeface="Calibri"/>
              </a:rPr>
              <a:t>from 0.107  ·  ~8.5×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17320"/>
            <a:ext cx="2743200" cy="54864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Hit@10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0.975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2D8F"/>
                </a:solidFill>
                <a:latin typeface="Calibri"/>
              </a:rPr>
              <a:t>from 0.125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417320"/>
            <a:ext cx="274320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MRR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0.858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855F7"/>
                </a:solidFill>
                <a:latin typeface="Calibri"/>
              </a:rPr>
              <a:t>from 0.068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74320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MTTC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2.88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BF24"/>
                </a:solidFill>
                <a:latin typeface="Calibri"/>
              </a:rPr>
              <a:t>from 9.81 turns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00400"/>
            <a:ext cx="6858000" cy="310896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29184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B9BB4"/>
                </a:solidFill>
                <a:latin typeface="Calibri"/>
              </a:rPr>
              <a:t>Metric comparison (higher better; MTTC inverted scale n/a)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40080" y="3566160"/>
          <a:ext cx="6583680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7589520" y="3200400"/>
            <a:ext cx="4069080" cy="310896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0" y="3200400"/>
            <a:ext cx="73152" cy="310896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3383280"/>
            <a:ext cx="365760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What moved the needle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Override hygiene (soft-only wipe)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Hybrid dense hash lane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Family + audience routing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other-first clarify policy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Multi-slot freeform atomize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Cold-start profile/rating priors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Each kept only if Tech ≥ floor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Tokens default path: 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06  ·  BY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Hit@10 holds across buying, browse, override,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Override pays more MTTC (mind-change cost) but still Hit 0.967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6949440" cy="475488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Hit@10 by scenario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828800"/>
          <a:ext cx="66751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1417320"/>
            <a:ext cx="3931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2D8F"/>
                </a:solidFill>
                <a:latin typeface="Calibri"/>
              </a:rPr>
              <a:t>MTTC (turns to first hit)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87451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1874519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203911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Buying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01167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D4FF"/>
                </a:solidFill>
                <a:latin typeface="Calibri"/>
              </a:rPr>
              <a:t>2.45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246887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2468879"/>
            <a:ext cx="851306" cy="128016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292607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0" y="2926079"/>
            <a:ext cx="73152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309067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Browsing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306323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2D8F"/>
                </a:solidFill>
                <a:latin typeface="Calibri"/>
              </a:rPr>
              <a:t>2.79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352043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55279" y="3520439"/>
            <a:ext cx="969446" cy="128016"/>
          </a:xfrm>
          <a:prstGeom prst="roundRect">
            <a:avLst>
              <a:gd name="adj" fmla="val 50000"/>
            </a:avLst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0" y="3977639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414223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Override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411479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D4FF"/>
                </a:solidFill>
                <a:latin typeface="Calibri"/>
              </a:rPr>
              <a:t>4.20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457199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4571999"/>
            <a:ext cx="1459382" cy="128016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680960" y="5029200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0" y="5029200"/>
            <a:ext cx="73152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5193792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Boundary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516636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2D8F"/>
                </a:solidFill>
                <a:latin typeface="Calibri"/>
              </a:rPr>
              <a:t>3.00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5623560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5279" y="5623560"/>
            <a:ext cx="1042415" cy="128016"/>
          </a:xfrm>
          <a:prstGeom prst="roundRect">
            <a:avLst>
              <a:gd name="adj" fmla="val 50000"/>
            </a:avLst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07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Astrid CLI — live multi-turn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python3 cli_chat.py --dense hash   ·   /new  /state  /quit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7040880" cy="4754880"/>
          </a:xfrm>
          <a:prstGeom prst="roundRect">
            <a:avLst>
              <a:gd name="adj" fmla="val 8000"/>
            </a:avLst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7040880" cy="365760"/>
          </a:xfrm>
          <a:prstGeom prst="rect">
            <a:avLst/>
          </a:prstGeom>
          <a:solidFill>
            <a:srgbClr val="12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508760"/>
            <a:ext cx="146304" cy="14630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1508760"/>
            <a:ext cx="146304" cy="14630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97864" y="1508760"/>
            <a:ext cx="146304" cy="14630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146304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astrid — dense=hash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658368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$ python3 cli_chat.py --dense hash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  Astrid  ·  quiet clarity for every aisle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0D4FF"/>
                </a:solidFill>
                <a:latin typeface="Calibri"/>
              </a:rPr>
              <a:t>  You · shoes for my son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  Astrid: Got it (footwear; boys). Any color…?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BF24"/>
                </a:solidFill>
                <a:latin typeface="Calibri"/>
              </a:rPr>
              <a:t>  ↳ ask · other     Top-3 footwear titles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0D4FF"/>
                </a:solidFill>
                <a:latin typeface="Calibri"/>
              </a:rPr>
              <a:t>  You · Actually forget sneakers, dress shoes size 9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  Astrid: Updated (footwear; size 9). Color?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7185"/>
                </a:solidFill>
                <a:latin typeface="Calibri"/>
              </a:rPr>
              <a:t>  ↳ override wiped soft prefs · kept size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  /state → family=footwear  size=9  asked={other}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141732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1417320"/>
            <a:ext cx="73152" cy="137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64592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Vague → clarify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dress + exploring → other → plus size locks size (no re-ask)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97180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2971800"/>
            <a:ext cx="73152" cy="13716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320040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2D8F"/>
                </a:solidFill>
                <a:latin typeface="Calibri"/>
              </a:rPr>
              <a:t>Family lock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"dress sandals" → footwear, not garment dresses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452628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0" y="4526280"/>
            <a:ext cx="73152" cy="13716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475488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855F7"/>
                </a:solidFill>
                <a:latin typeface="Calibri"/>
              </a:rPr>
              <a:t>Intent override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6636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running shoes → dress shoes; size 9 persists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08  · 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Kit metrics → merchant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Honest framing: offline simulation ≠ live GMV A/B — same job-to-be-done as conversational commerce.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91440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1907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Hit@10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66420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0D4FF"/>
                </a:solidFill>
                <a:latin typeface="Calibri"/>
              </a:rPr>
              <a:t>0.975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73736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Findability — target ASIN in top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1460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14600"/>
            <a:ext cx="91440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7063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MRR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71576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2D8F"/>
                </a:solidFill>
                <a:latin typeface="Calibri"/>
              </a:rPr>
              <a:t>0.858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78892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Rank quality — earlier positions win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6616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66160"/>
            <a:ext cx="91440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2219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MTTC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76732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A855F7"/>
                </a:solidFill>
                <a:latin typeface="Calibri"/>
              </a:rPr>
              <a:t>2.88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84048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Cost / cognitive load — fewer refine loops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1772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617720"/>
            <a:ext cx="91440" cy="9144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87375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Tokens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81888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89204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Offline default — no paid LLM on score path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0" y="-914400"/>
            <a:ext cx="5486400" cy="5029200"/>
          </a:xfrm>
          <a:prstGeom prst="roundRect">
            <a:avLst>
              <a:gd name="adj" fmla="val 50000"/>
            </a:avLst>
          </a:prstGeom>
          <a:solidFill>
            <a:srgbClr val="1A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-1097280" y="3840480"/>
            <a:ext cx="4572000" cy="4114800"/>
          </a:xfrm>
          <a:prstGeom prst="roundRect">
            <a:avLst>
              <a:gd name="adj" fmla="val 50000"/>
            </a:avLst>
          </a:prstGeom>
          <a:solidFill>
            <a:srgbClr val="0C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THANKS  · 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00D4FF"/>
                </a:solidFill>
                <a:latin typeface="Calibri"/>
              </a:rPr>
              <a:t>Shop</a:t>
            </a:r>
            <a:r>
              <a:rPr sz="4800" b="1">
                <a:solidFill>
                  <a:srgbClr val="FF2D8F"/>
                </a:solidFill>
                <a:latin typeface="Calibri"/>
              </a:rPr>
              <a:t>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058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F8FAFC"/>
                </a:solidFill>
                <a:latin typeface="Calibri"/>
              </a:rPr>
              <a:t>Offline-first multi-turn shopping 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00D4FF"/>
                </a:solidFill>
                <a:latin typeface="Calibri"/>
              </a:rPr>
              <a:t>github.com/algorathem/techjam2026-shopping-copilot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Astrid CLI  ·  Tech 0.907  ·  Hit@10 0.975  ·  MTTC 2.88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Live demo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Reproduce: local_evaluator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Track 4 · CSJ 50k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TechJam 2026 Track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