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Weak BM25</c:v>
                </c:pt>
              </c:strCache>
            </c:strRef>
          </c:tx>
          <c:spPr>
            <a:solidFill>
              <a:srgbClr val="64748B"/>
            </a:solidFill>
          </c:spPr>
          <c:dLbls>
            <c:numFmt formatCode="0.00" sourceLinked="0"/>
            <c:txPr>
              <a:bodyPr/>
              <a:lstStyle/>
              <a:p>
                <a:pPr>
                  <a:defRPr sz="1000" b="1">
                    <a:solidFill>
                      <a:srgbClr val="F8FAFC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Tech</c:v>
                </c:pt>
                <c:pt idx="1">
                  <c:v>Hit@10</c:v>
                </c:pt>
                <c:pt idx="2">
                  <c:v>MRR</c:v>
                </c:pt>
                <c:pt idx="3">
                  <c:v>Efficiency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0.107</c:v>
                </c:pt>
                <c:pt idx="1">
                  <c:v>0.125</c:v>
                </c:pt>
                <c:pt idx="2">
                  <c:v>0.068</c:v>
                </c:pt>
                <c:pt idx="3">
                  <c:v>0.119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ShopPilot</c:v>
                </c:pt>
              </c:strCache>
            </c:strRef>
          </c:tx>
          <c:spPr>
            <a:solidFill>
              <a:srgbClr val="00D4FF"/>
            </a:solidFill>
          </c:spPr>
          <c:dLbls>
            <c:numFmt formatCode="0.00" sourceLinked="0"/>
            <c:txPr>
              <a:bodyPr/>
              <a:lstStyle/>
              <a:p>
                <a:pPr>
                  <a:defRPr sz="1000" b="1">
                    <a:solidFill>
                      <a:srgbClr val="F8FAFC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Tech</c:v>
                </c:pt>
                <c:pt idx="1">
                  <c:v>Hit@10</c:v>
                </c:pt>
                <c:pt idx="2">
                  <c:v>MRR</c:v>
                </c:pt>
                <c:pt idx="3">
                  <c:v>Efficiency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0.907</c:v>
                </c:pt>
                <c:pt idx="1">
                  <c:v>0.975</c:v>
                </c:pt>
                <c:pt idx="2">
                  <c:v>0.858</c:v>
                </c:pt>
                <c:pt idx="3">
                  <c:v>0.813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3A55"/>
            </a:solidFill>
          </a:ln>
        </c:spPr>
        <c:txPr>
          <a:bodyPr/>
          <a:lstStyle/>
          <a:p>
            <a:pPr>
              <a:defRPr sz="1100">
                <a:solidFill>
                  <a:srgbClr val="8B9BB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2A3A55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A3A55"/>
            </a:solidFill>
          </a:ln>
        </c:spPr>
        <c:txPr>
          <a:bodyPr/>
          <a:lstStyle/>
          <a:p>
            <a:pPr>
              <a:defRPr sz="1000">
                <a:solidFill>
                  <a:srgbClr val="8B9BB4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8B9BB4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Hit@10</c:v>
                </c:pt>
              </c:strCache>
            </c:strRef>
          </c:tx>
          <c:spPr>
            <a:solidFill>
              <a:srgbClr val="00D4FF"/>
            </a:solidFill>
          </c:spPr>
          <c:dLbls>
            <c:numFmt formatCode="0.00" sourceLinked="0"/>
            <c:txPr>
              <a:bodyPr/>
              <a:lstStyle/>
              <a:p>
                <a:pPr>
                  <a:defRPr sz="1000" b="1">
                    <a:solidFill>
                      <a:srgbClr val="F8FAFC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Buying</c:v>
                </c:pt>
                <c:pt idx="1">
                  <c:v>Browsing</c:v>
                </c:pt>
                <c:pt idx="2">
                  <c:v>Override</c:v>
                </c:pt>
                <c:pt idx="3">
                  <c:v>Boundary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0.975</c:v>
                </c:pt>
                <c:pt idx="1">
                  <c:v>0.975</c:v>
                </c:pt>
                <c:pt idx="2">
                  <c:v>0.967</c:v>
                </c:pt>
                <c:pt idx="3">
                  <c:v>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MRR</c:v>
                </c:pt>
              </c:strCache>
            </c:strRef>
          </c:tx>
          <c:spPr>
            <a:solidFill>
              <a:srgbClr val="FF2D8F"/>
            </a:solidFill>
          </c:spPr>
          <c:dLbls>
            <c:numFmt formatCode="0.00" sourceLinked="0"/>
            <c:txPr>
              <a:bodyPr/>
              <a:lstStyle/>
              <a:p>
                <a:pPr>
                  <a:defRPr sz="1000" b="1">
                    <a:solidFill>
                      <a:srgbClr val="F8FAFC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Buying</c:v>
                </c:pt>
                <c:pt idx="1">
                  <c:v>Browsing</c:v>
                </c:pt>
                <c:pt idx="2">
                  <c:v>Override</c:v>
                </c:pt>
                <c:pt idx="3">
                  <c:v>Boundary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0.856</c:v>
                </c:pt>
                <c:pt idx="1">
                  <c:v>0.846</c:v>
                </c:pt>
                <c:pt idx="2">
                  <c:v>0.868</c:v>
                </c:pt>
                <c:pt idx="3">
                  <c:v>0.933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2A3A55"/>
            </a:solidFill>
          </a:ln>
        </c:spPr>
        <c:txPr>
          <a:bodyPr/>
          <a:lstStyle/>
          <a:p>
            <a:pPr>
              <a:defRPr sz="1100">
                <a:solidFill>
                  <a:srgbClr val="8B9BB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2A3A55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A3A55"/>
            </a:solidFill>
          </a:ln>
        </c:spPr>
        <c:txPr>
          <a:bodyPr/>
          <a:lstStyle/>
          <a:p>
            <a:pPr>
              <a:defRPr sz="1000">
                <a:solidFill>
                  <a:srgbClr val="8B9BB4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8B9BB4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0" y="-109728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1A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1371600" y="4114800"/>
            <a:ext cx="5029200" cy="4114800"/>
          </a:xfrm>
          <a:prstGeom prst="roundRect">
            <a:avLst>
              <a:gd name="adj" fmla="val 50000"/>
            </a:avLst>
          </a:prstGeom>
          <a:solidFill>
            <a:srgbClr val="0C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2D8F"/>
                </a:solidFill>
                <a:latin typeface="Calibri"/>
              </a:rPr>
              <a:t>TECHJAM 2026  ·  TRACK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800" b="1">
                <a:solidFill>
                  <a:srgbClr val="00D4FF"/>
                </a:solidFill>
                <a:latin typeface="Calibri"/>
              </a:rPr>
              <a:t>Shop</a:t>
            </a:r>
            <a:r>
              <a:rPr sz="5800" b="1">
                <a:solidFill>
                  <a:srgbClr val="FF2D8F"/>
                </a:solidFill>
                <a:latin typeface="Calibri"/>
              </a:rPr>
              <a:t>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0">
                <a:solidFill>
                  <a:srgbClr val="F8FAFC"/>
                </a:solidFill>
                <a:latin typeface="Calibri"/>
              </a:rPr>
              <a:t>Offline-first multi-turn shopping copilot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794760"/>
            <a:ext cx="2468880" cy="502920"/>
          </a:xfrm>
          <a:prstGeom prst="roundRect">
            <a:avLst>
              <a:gd name="adj" fmla="val 30000"/>
            </a:avLst>
          </a:prstGeom>
          <a:solidFill>
            <a:srgbClr val="152033"/>
          </a:solidFill>
          <a:ln w="1587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858768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Hybrid FTS + dense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794760"/>
            <a:ext cx="2468880" cy="502920"/>
          </a:xfrm>
          <a:prstGeom prst="roundRect">
            <a:avLst>
              <a:gd name="adj" fmla="val 30000"/>
            </a:avLst>
          </a:prstGeom>
          <a:solidFill>
            <a:srgbClr val="152033"/>
          </a:solidFill>
          <a:ln w="15875">
            <a:solidFill>
              <a:srgbClr val="FF2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3858768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Stateful DST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94760"/>
            <a:ext cx="2468880" cy="502920"/>
          </a:xfrm>
          <a:prstGeom prst="roundRect">
            <a:avLst>
              <a:gd name="adj" fmla="val 30000"/>
            </a:avLst>
          </a:prstGeom>
          <a:solidFill>
            <a:srgbClr val="152033"/>
          </a:solidFill>
          <a:ln w="1587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3858768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Clarify ≤10 turns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3794760"/>
            <a:ext cx="2468880" cy="502920"/>
          </a:xfrm>
          <a:prstGeom prst="roundRect">
            <a:avLst>
              <a:gd name="adj" fmla="val 30000"/>
            </a:avLst>
          </a:prstGeom>
          <a:solidFill>
            <a:srgbClr val="152033"/>
          </a:solidFill>
          <a:ln w="15875">
            <a:solidFill>
              <a:srgbClr val="FF2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3858768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Tech 0.907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75488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8B9BB4"/>
                </a:solidFill>
                <a:latin typeface="Calibri"/>
              </a:rPr>
              <a:t>Demo UI: Astrid CLI  ·  github.com/algorathem/techjam2026-shopping-copilot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Public 200  ·  Hit@10 0.975  ·  MTTC 2.88  ·  tokens 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656832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ShopPilot  ·  Astrid theme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65683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2D8F"/>
                </a:solidFill>
                <a:latin typeface="Calibri"/>
              </a:rPr>
              <a:t>01  · 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Calibri"/>
              </a:rPr>
              <a:t>Keyword search breaks on real shopping intent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B9BB4"/>
                </a:solidFill>
                <a:latin typeface="Calibri"/>
              </a:rPr>
              <a:t>Vague goals, dual-meaning SKUs, mid-session mind-change, and a hard ≤10-turn budget.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2743200" cy="32004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27432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D4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8FAFC"/>
                </a:solidFill>
                <a:latin typeface="Calibri"/>
              </a:rPr>
              <a:t>Vague queries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22860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B9BB4"/>
                </a:solidFill>
                <a:latin typeface="Calibri"/>
              </a:rPr>
              <a:t>"something nice for summer"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554480"/>
            <a:ext cx="2743200" cy="32004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554480"/>
            <a:ext cx="2743200" cy="73152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82880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2D8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28600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8FAFC"/>
                </a:solidFill>
                <a:latin typeface="Calibri"/>
              </a:rPr>
              <a:t>Ambiguity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926080"/>
            <a:ext cx="22860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B9BB4"/>
                </a:solidFill>
                <a:latin typeface="Calibri"/>
              </a:rPr>
              <a:t>dress vs dress shoes  ·  gift for my 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554480"/>
            <a:ext cx="2743200" cy="32004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554480"/>
            <a:ext cx="2743200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82880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A855F7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28600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8FAFC"/>
                </a:solidFill>
                <a:latin typeface="Calibri"/>
              </a:rPr>
              <a:t>Mind-change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926080"/>
            <a:ext cx="22860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B9BB4"/>
                </a:solidFill>
                <a:latin typeface="Calibri"/>
              </a:rPr>
              <a:t>intent override mid-session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554480"/>
            <a:ext cx="2743200" cy="32004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1554480"/>
            <a:ext cx="274320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600" y="182880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BBF24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28600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8FAFC"/>
                </a:solidFill>
                <a:latin typeface="Calibri"/>
              </a:rPr>
              <a:t>Turn budget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2926080"/>
            <a:ext cx="22860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B9BB4"/>
                </a:solidFill>
                <a:latin typeface="Calibri"/>
              </a:rPr>
              <a:t>miss after turn 10 → session fails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029200"/>
            <a:ext cx="11155680" cy="1234440"/>
          </a:xfrm>
          <a:prstGeom prst="roundRect">
            <a:avLst>
              <a:gd name="adj" fmla="val 8000"/>
            </a:avLst>
          </a:prstGeom>
          <a:solidFill>
            <a:srgbClr val="1A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212080"/>
            <a:ext cx="106984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2D8F"/>
                </a:solidFill>
                <a:latin typeface="Calibri"/>
              </a:rPr>
              <a:t>Scored job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Find the hidden parent_asin in ≤10 turns on a frozen 50k CSJ catalog  ·  Hit@10 · MRR · MTTC → TechnicalScore = 0.5·Hit + 0.3·MRR + 0.2·Efficiency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656832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ShopPilot · TechJam 2026 Track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65683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2D8F"/>
                </a:solidFill>
                <a:latin typeface="Calibri"/>
              </a:rPr>
              <a:t>02  · 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Calibri"/>
              </a:rPr>
              <a:t>Headless offline agent — one turn, three outputs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B9BB4"/>
                </a:solidFill>
                <a:latin typeface="Calibri"/>
              </a:rPr>
              <a:t>Each respond() returns message + one ask_attribute + Top-10 ASINs. No required LLM.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011680"/>
            <a:ext cx="36576" cy="41148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sz="1600" b="1">
                <a:solidFill>
                  <a:srgbClr val="0A121F"/>
                </a:solidFill>
                <a:latin typeface="Calibr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435608"/>
            <a:ext cx="10058400" cy="640080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0200" y="155448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8FAFC"/>
                </a:solidFill>
                <a:latin typeface="Calibri"/>
              </a:rPr>
              <a:t>Intent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581912"/>
            <a:ext cx="7132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8B9BB4"/>
                </a:solidFill>
                <a:latin typeface="Calibri"/>
              </a:rPr>
              <a:t>Buy / browse · family · audience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2880359"/>
            <a:ext cx="36576" cy="41148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2377439"/>
            <a:ext cx="457200" cy="457200"/>
          </a:xfrm>
          <a:prstGeom prst="ellipse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sz="1600" b="1">
                <a:solidFill>
                  <a:srgbClr val="0A121F"/>
                </a:solidFill>
                <a:latin typeface="Calibr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2304287"/>
            <a:ext cx="10058400" cy="640080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2423159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8FAFC"/>
                </a:solidFill>
                <a:latin typeface="Calibri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450591"/>
            <a:ext cx="7132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8B9BB4"/>
                </a:solidFill>
                <a:latin typeface="Calibri"/>
              </a:rPr>
              <a:t>Slots · override hygiene · multi-fill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3749040"/>
            <a:ext cx="36576" cy="41148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sz="1600" b="1">
                <a:solidFill>
                  <a:srgbClr val="0A121F"/>
                </a:solidFill>
                <a:latin typeface="Calibri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3172968"/>
            <a:ext cx="10058400" cy="640080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00200" y="329184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8FAFC"/>
                </a:solidFill>
                <a:latin typeface="Calibri"/>
              </a:rPr>
              <a:t>Retrieve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319272"/>
            <a:ext cx="7132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8B9BB4"/>
                </a:solidFill>
                <a:latin typeface="Calibri"/>
              </a:rPr>
              <a:t>FTS5 OR/AND + dense hash hybrid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" y="4617720"/>
            <a:ext cx="36576" cy="41148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sz="1600" b="1">
                <a:solidFill>
                  <a:srgbClr val="0A121F"/>
                </a:solidFill>
                <a:latin typeface="Calibri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4041648"/>
            <a:ext cx="10058400" cy="640080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00200" y="416052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8FAFC"/>
                </a:solidFill>
                <a:latin typeface="Calibri"/>
              </a:rPr>
              <a:t>Clarify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4187952"/>
            <a:ext cx="7132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8B9BB4"/>
                </a:solidFill>
                <a:latin typeface="Calibri"/>
              </a:rPr>
              <a:t>other-first · skip filled · ≤10 turns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" y="4983479"/>
            <a:ext cx="457200" cy="45720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sz="1600" b="1">
                <a:solidFill>
                  <a:srgbClr val="0A121F"/>
                </a:solidFill>
                <a:latin typeface="Calibri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4910327"/>
            <a:ext cx="10058400" cy="640080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00200" y="5029199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8FAFC"/>
                </a:solidFill>
                <a:latin typeface="Calibri"/>
              </a:rPr>
              <a:t>Rank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5056631"/>
            <a:ext cx="7132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8B9BB4"/>
                </a:solidFill>
                <a:latin typeface="Calibri"/>
              </a:rPr>
              <a:t>Constraint coverage · family · light priors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656832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ShopPilot · TechJam 2026 Track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65683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2D8F"/>
                </a:solidFill>
                <a:latin typeface="Calibri"/>
              </a:rPr>
              <a:t>03  ·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Calibri"/>
              </a:rPr>
              <a:t>Multi-turn loop — state is the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B9BB4"/>
                </a:solidFill>
                <a:latin typeface="Calibri"/>
              </a:rPr>
              <a:t>Each turn: past SessionState + current text → Top-10 + one ask. Catalog immutable. LLM optional / off.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63040"/>
            <a:ext cx="2148840" cy="1691640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63040"/>
            <a:ext cx="214884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400" b="1">
                <a:solidFill>
                  <a:srgbClr val="0A121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3736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8FAFC"/>
                </a:solidFill>
                <a:latin typeface="Calibri"/>
              </a:rPr>
              <a:t>Ingest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187451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alibri"/>
              </a:rPr>
              <a:t>slots · family · audience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87752" y="2148840"/>
            <a:ext cx="146304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43200" y="1463040"/>
            <a:ext cx="2148840" cy="1691640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0" y="1463040"/>
            <a:ext cx="2148840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880360" y="1691640"/>
            <a:ext cx="384048" cy="384048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400" b="1">
                <a:solidFill>
                  <a:srgbClr val="0A121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73736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8FAFC"/>
                </a:solidFill>
                <a:latin typeface="Calibri"/>
              </a:rPr>
              <a:t>Retrieve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331720"/>
            <a:ext cx="187451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alibri"/>
              </a:rPr>
              <a:t>FTS5 + dense hash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919472" y="2148840"/>
            <a:ext cx="146304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74920" y="1463040"/>
            <a:ext cx="2148840" cy="1691640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74920" y="1463040"/>
            <a:ext cx="214884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12080" y="1691640"/>
            <a:ext cx="384048" cy="38404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400" b="1">
                <a:solidFill>
                  <a:srgbClr val="0A121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173736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8FAFC"/>
                </a:solidFill>
                <a:latin typeface="Calibri"/>
              </a:rPr>
              <a:t>Rank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331720"/>
            <a:ext cx="187451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alibri"/>
              </a:rPr>
              <a:t>coverage · priors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251192" y="2148840"/>
            <a:ext cx="146304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06640" y="1463040"/>
            <a:ext cx="2148840" cy="1691640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06640" y="1463040"/>
            <a:ext cx="214884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543800" y="1691640"/>
            <a:ext cx="384048" cy="38404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400" b="1">
                <a:solidFill>
                  <a:srgbClr val="0A121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9" y="173736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8FAFC"/>
                </a:solidFill>
                <a:latin typeface="Calibri"/>
              </a:rPr>
              <a:t>Ask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2331720"/>
            <a:ext cx="187451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alibri"/>
              </a:rPr>
              <a:t>other-first ladder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582912" y="2148840"/>
            <a:ext cx="146304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738359" y="1463040"/>
            <a:ext cx="2148840" cy="1691640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38359" y="1463040"/>
            <a:ext cx="2148840" cy="73152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875519" y="1691640"/>
            <a:ext cx="384048" cy="384048"/>
          </a:xfrm>
          <a:prstGeom prst="ellipse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400" b="1">
                <a:solidFill>
                  <a:srgbClr val="0A121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78439" y="1737360"/>
            <a:ext cx="1371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8FAFC"/>
                </a:solidFill>
                <a:latin typeface="Calibri"/>
              </a:rPr>
              <a:t>Respond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19" y="2331720"/>
            <a:ext cx="187451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alibri"/>
              </a:rPr>
              <a:t>msg + ask + Top-10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" y="3383280"/>
            <a:ext cx="3611880" cy="278892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3383280"/>
            <a:ext cx="91440" cy="2788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56616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4D399"/>
                </a:solidFill>
                <a:latin typeface="Calibri"/>
              </a:rPr>
              <a:t>SessionState  ·  mutable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069080"/>
            <a:ext cx="320040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soft | disclosed | override sources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family · audience · asked / filled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soft-only wipe on mind-change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next turn = same session_id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06240" y="3383280"/>
            <a:ext cx="3611880" cy="278892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06240" y="3383280"/>
            <a:ext cx="91440" cy="27889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34840" y="356616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A855F7"/>
                </a:solidFill>
                <a:latin typeface="Calibri"/>
              </a:rPr>
              <a:t>Catalog  ·  immutable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40" y="4069080"/>
            <a:ext cx="320040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FTS5 BM25 in-memory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dense hash 512-d default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MiniLM opt-in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50k CSJ freeze · no turn writes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01000" y="3383280"/>
            <a:ext cx="3611880" cy="278892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01000" y="3383280"/>
            <a:ext cx="91440" cy="278892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0" y="356616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2D8F"/>
                </a:solidFill>
                <a:latin typeface="Calibri"/>
              </a:rPr>
              <a:t>Optional LLM  ·  gated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4069080"/>
            <a:ext cx="320040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slots NLU + top-20 rerank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fail-open timeout → rules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NOT on default score path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tokens on default path: 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6656832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ShopPilot · TechJam 2026 Track 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24160" y="665683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2D8F"/>
                </a:solidFill>
                <a:latin typeface="Calibri"/>
              </a:rPr>
              <a:t>04  ·  ARCHITECTURE IN THE LITERATURE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8FAFC"/>
                </a:solidFill>
                <a:latin typeface="Calibri"/>
              </a:rPr>
              <a:t>Classical CRS stack → ShopPilot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Redrawn concepts — not paper screenshots  ·  Qulac · Bayesian CRS · DST · corpus CQs · hybrid IR</a:t>
            </a:r>
          </a:p>
        </p:txBody>
      </p:sp>
      <p:pic>
        <p:nvPicPr>
          <p:cNvPr id="7" name="Picture 6" descr="architecture_lit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051560"/>
            <a:ext cx="11795760" cy="53492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656832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ShopPilot · TechJam 2026 Track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5683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2D8F"/>
                </a:solidFill>
                <a:latin typeface="Calibri"/>
              </a:rPr>
              <a:t>05  ·  ARCHITECTURE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8FAFC"/>
                </a:solidFill>
                <a:latin typeface="Calibri"/>
              </a:rPr>
              <a:t>End-to-end system diagram</a:t>
            </a:r>
          </a:p>
        </p:txBody>
      </p:sp>
      <p:pic>
        <p:nvPicPr>
          <p:cNvPr id="6" name="Picture 5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868680"/>
            <a:ext cx="11795760" cy="5623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656832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ShopPilot · TechJam 2026 Track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65683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2D8F"/>
                </a:solidFill>
                <a:latin typeface="Calibri"/>
              </a:rPr>
              <a:t>06  · 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Calibri"/>
              </a:rPr>
              <a:t>Public 200 — weak BM25 vs ShopPilot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B9BB4"/>
                </a:solidFill>
                <a:latin typeface="Calibri"/>
              </a:rPr>
              <a:t>Official local_evaluator · SHOPPILOT_DENSE=hash · deterministic seeds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743200" cy="1554480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27432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618488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TechnicalScore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20240"/>
            <a:ext cx="23774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8FAFC"/>
                </a:solidFill>
                <a:latin typeface="Calibri"/>
              </a:rPr>
              <a:t>0.907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51460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00D4FF"/>
                </a:solidFill>
                <a:latin typeface="Calibri"/>
              </a:rPr>
              <a:t>from 0.107  ·  ~8.5×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417320"/>
            <a:ext cx="2743200" cy="1554480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417320"/>
            <a:ext cx="2743200" cy="54864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1618488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Hit@10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1920240"/>
            <a:ext cx="23774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8FAFC"/>
                </a:solidFill>
                <a:latin typeface="Calibri"/>
              </a:rPr>
              <a:t>0.975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51460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F2D8F"/>
                </a:solidFill>
                <a:latin typeface="Calibri"/>
              </a:rPr>
              <a:t>from 0.125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417320"/>
            <a:ext cx="2743200" cy="1554480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417320"/>
            <a:ext cx="274320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1618488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MRR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1920240"/>
            <a:ext cx="23774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8FAFC"/>
                </a:solidFill>
                <a:latin typeface="Calibri"/>
              </a:rPr>
              <a:t>0.858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251460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A855F7"/>
                </a:solidFill>
                <a:latin typeface="Calibri"/>
              </a:rPr>
              <a:t>from 0.068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417320"/>
            <a:ext cx="2743200" cy="1554480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1417320"/>
            <a:ext cx="274320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1618488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MTTC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8" y="1920240"/>
            <a:ext cx="23774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8FAFC"/>
                </a:solidFill>
                <a:latin typeface="Calibri"/>
              </a:rPr>
              <a:t>2.88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8" y="251460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BBF24"/>
                </a:solidFill>
                <a:latin typeface="Calibri"/>
              </a:rPr>
              <a:t>from 9.81 turns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200400"/>
            <a:ext cx="6858000" cy="310896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291840"/>
            <a:ext cx="6400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8B9BB4"/>
                </a:solidFill>
                <a:latin typeface="Calibri"/>
              </a:rPr>
              <a:t>Metric comparison (higher better; MTTC inverted scale n/a)</a:t>
            </a:r>
          </a:p>
        </p:txBody>
      </p: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640080" y="3566160"/>
          <a:ext cx="6583680" cy="2606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7589520" y="3200400"/>
            <a:ext cx="4069080" cy="310896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89520" y="3200400"/>
            <a:ext cx="73152" cy="310896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8120" y="3383280"/>
            <a:ext cx="365760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2D8F"/>
                </a:solidFill>
                <a:latin typeface="Calibri"/>
              </a:rPr>
              <a:t>What moved the needle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" b="0">
                <a:solidFill>
                  <a:srgbClr val="8B9BB4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Override hygiene (soft-only wipe)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Hybrid dense hash lane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Family + audience routing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other-first clarify policy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Multi-slot freeform atomize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Cold-start profile/rating priors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8B9BB4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Each kept only if Tech ≥ floor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Calibri"/>
              </a:rPr>
              <a:t>Tokens default path: 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656832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ShopPilot · TechJam 2026 Track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65683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2D8F"/>
                </a:solidFill>
                <a:latin typeface="Calibri"/>
              </a:rPr>
              <a:t>07  ·  BY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Calibri"/>
              </a:rPr>
              <a:t>Hit@10 holds across buying, browse, override,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B9BB4"/>
                </a:solidFill>
                <a:latin typeface="Calibri"/>
              </a:rPr>
              <a:t>Override pays more MTTC (mind-change cost) but still Hit 0.967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6949440" cy="47548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6400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D4FF"/>
                </a:solidFill>
                <a:latin typeface="Calibri"/>
              </a:rPr>
              <a:t>Hit@10 by scenario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828800"/>
          <a:ext cx="66751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26679" y="1417320"/>
            <a:ext cx="3931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2D8F"/>
                </a:solidFill>
                <a:latin typeface="Calibri"/>
              </a:rPr>
              <a:t>MTTC (turns to first hit)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874519"/>
            <a:ext cx="3977639" cy="9144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874519"/>
            <a:ext cx="73152" cy="914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2039111"/>
            <a:ext cx="2194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Calibri"/>
              </a:rPr>
              <a:t>Buying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011679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0D4FF"/>
                </a:solidFill>
                <a:latin typeface="Calibri"/>
              </a:rPr>
              <a:t>2.45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2468879"/>
            <a:ext cx="3474720" cy="128016"/>
          </a:xfrm>
          <a:prstGeom prst="roundRect">
            <a:avLst>
              <a:gd name="adj" fmla="val 50000"/>
            </a:avLst>
          </a:prstGeom>
          <a:solidFill>
            <a:srgbClr val="1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55279" y="2468879"/>
            <a:ext cx="851306" cy="128016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80960" y="2926079"/>
            <a:ext cx="3977639" cy="9144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0" y="2926079"/>
            <a:ext cx="73152" cy="9144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3090671"/>
            <a:ext cx="2194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Calibri"/>
              </a:rPr>
              <a:t>Browsing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063239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2D8F"/>
                </a:solidFill>
                <a:latin typeface="Calibri"/>
              </a:rPr>
              <a:t>2.79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3520439"/>
            <a:ext cx="3474720" cy="128016"/>
          </a:xfrm>
          <a:prstGeom prst="roundRect">
            <a:avLst>
              <a:gd name="adj" fmla="val 50000"/>
            </a:avLst>
          </a:prstGeom>
          <a:solidFill>
            <a:srgbClr val="1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55279" y="3520439"/>
            <a:ext cx="969446" cy="128016"/>
          </a:xfrm>
          <a:prstGeom prst="roundRect">
            <a:avLst>
              <a:gd name="adj" fmla="val 50000"/>
            </a:avLst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680960" y="3977639"/>
            <a:ext cx="3977639" cy="9144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80960" y="3977639"/>
            <a:ext cx="73152" cy="914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4142231"/>
            <a:ext cx="2194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Calibri"/>
              </a:rPr>
              <a:t>Override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4114799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0D4FF"/>
                </a:solidFill>
                <a:latin typeface="Calibri"/>
              </a:rPr>
              <a:t>4.20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4571999"/>
            <a:ext cx="3474720" cy="128016"/>
          </a:xfrm>
          <a:prstGeom prst="roundRect">
            <a:avLst>
              <a:gd name="adj" fmla="val 50000"/>
            </a:avLst>
          </a:prstGeom>
          <a:solidFill>
            <a:srgbClr val="1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955279" y="4571999"/>
            <a:ext cx="1459382" cy="128016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680960" y="5029200"/>
            <a:ext cx="3977639" cy="9144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80960" y="5029200"/>
            <a:ext cx="73152" cy="9144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5193792"/>
            <a:ext cx="2194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Calibri"/>
              </a:rPr>
              <a:t>Boundary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516636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2D8F"/>
                </a:solidFill>
                <a:latin typeface="Calibri"/>
              </a:rPr>
              <a:t>3.00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79" y="5623560"/>
            <a:ext cx="3474720" cy="128016"/>
          </a:xfrm>
          <a:prstGeom prst="roundRect">
            <a:avLst>
              <a:gd name="adj" fmla="val 50000"/>
            </a:avLst>
          </a:prstGeom>
          <a:solidFill>
            <a:srgbClr val="1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955279" y="5623560"/>
            <a:ext cx="1042415" cy="128016"/>
          </a:xfrm>
          <a:prstGeom prst="roundRect">
            <a:avLst>
              <a:gd name="adj" fmla="val 50000"/>
            </a:avLst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656832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ShopPilot · TechJam 2026 Track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665683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2D8F"/>
                </a:solidFill>
                <a:latin typeface="Calibri"/>
              </a:rPr>
              <a:t>08  · 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Calibri"/>
              </a:rPr>
              <a:t>Astrid CLI — live multi-turn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B9BB4"/>
                </a:solidFill>
                <a:latin typeface="Calibri"/>
              </a:rPr>
              <a:t>python3 cli_chat.py --dense hash   ·   /new  /state  /quit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7040880" cy="4754880"/>
          </a:xfrm>
          <a:prstGeom prst="roundRect">
            <a:avLst>
              <a:gd name="adj" fmla="val 8000"/>
            </a:avLst>
          </a:prstGeom>
          <a:solidFill>
            <a:srgbClr val="08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7040880" cy="365760"/>
          </a:xfrm>
          <a:prstGeom prst="rect">
            <a:avLst/>
          </a:prstGeom>
          <a:solidFill>
            <a:srgbClr val="12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50876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41832" y="1508760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97864" y="150876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46304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astrid — dense=hash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965960"/>
            <a:ext cx="6583680" cy="4023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$ python3 cli_chat.py --dense hash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8B9BB4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2D8F"/>
                </a:solidFill>
                <a:latin typeface="Calibri"/>
              </a:rPr>
              <a:t>  Astrid  ·  quiet clarity for every aisle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8B9BB4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00D4FF"/>
                </a:solidFill>
                <a:latin typeface="Calibri"/>
              </a:rPr>
              <a:t>  You · shoes for my son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  Astrid: Got it (footwear; boys). Any color…?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BBF24"/>
                </a:solidFill>
                <a:latin typeface="Calibri"/>
              </a:rPr>
              <a:t>  ↳ ask · other     Top-3 footwear titles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8B9BB4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00D4FF"/>
                </a:solidFill>
                <a:latin typeface="Calibri"/>
              </a:rPr>
              <a:t>  You · Actually forget sneakers, dress shoes size 9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  Astrid: Updated (footwear; size 9). Color?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B7185"/>
                </a:solidFill>
                <a:latin typeface="Calibri"/>
              </a:rPr>
              <a:t>  ↳ override wiped soft prefs · kept size path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8B9BB4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  /state → family=footwear  size=9  asked={other}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417320"/>
            <a:ext cx="3931920" cy="13716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1417320"/>
            <a:ext cx="73152" cy="1371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645920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0D4FF"/>
                </a:solidFill>
                <a:latin typeface="Calibri"/>
              </a:rPr>
              <a:t>Vague → clarify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057400"/>
            <a:ext cx="34747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alibri"/>
              </a:rPr>
              <a:t>dress + exploring → other → plus size locks size (no re-ask)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2971800"/>
            <a:ext cx="3931920" cy="13716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0" y="2971800"/>
            <a:ext cx="73152" cy="13716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3200400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2D8F"/>
                </a:solidFill>
                <a:latin typeface="Calibri"/>
              </a:rPr>
              <a:t>Family lock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611880"/>
            <a:ext cx="34747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alibri"/>
              </a:rPr>
              <a:t>"dress sandals" → footwear, not garment dresses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4526280"/>
            <a:ext cx="3931920" cy="13716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0" y="4526280"/>
            <a:ext cx="73152" cy="13716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4754880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A855F7"/>
                </a:solidFill>
                <a:latin typeface="Calibri"/>
              </a:rPr>
              <a:t>Intent override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5166360"/>
            <a:ext cx="34747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alibri"/>
              </a:rPr>
              <a:t>running shoes → dress shoes; size 9 persists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656832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ShopPilot · TechJam 2026 Track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65683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2D8F"/>
                </a:solidFill>
                <a:latin typeface="Calibri"/>
              </a:rPr>
              <a:t>09  · 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Calibri"/>
              </a:rPr>
              <a:t>Kit metrics → merchant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B9BB4"/>
                </a:solidFill>
                <a:latin typeface="Calibri"/>
              </a:rPr>
              <a:t>Honest framing: offline simulation ≠ live GMV A/B — same job-to-be-done as conversational commerce.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91440" cy="914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19072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8B9BB4"/>
                </a:solidFill>
                <a:latin typeface="Calibri"/>
              </a:rPr>
              <a:t>Hit@10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664208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D4FF"/>
                </a:solidFill>
                <a:latin typeface="Calibri"/>
              </a:rPr>
              <a:t>0.975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737360"/>
            <a:ext cx="6217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Calibri"/>
              </a:rPr>
              <a:t>Findability — target ASIN in top 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1460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514600"/>
            <a:ext cx="91440" cy="9144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770632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8B9BB4"/>
                </a:solidFill>
                <a:latin typeface="Calibri"/>
              </a:rPr>
              <a:t>MRR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715768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2D8F"/>
                </a:solidFill>
                <a:latin typeface="Calibri"/>
              </a:rPr>
              <a:t>0.858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788920"/>
            <a:ext cx="6217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Calibri"/>
              </a:rPr>
              <a:t>Rank quality — earlier positions win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56616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566160"/>
            <a:ext cx="91440" cy="914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22192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8B9BB4"/>
                </a:solidFill>
                <a:latin typeface="Calibri"/>
              </a:rPr>
              <a:t>MTTC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67328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A855F7"/>
                </a:solidFill>
                <a:latin typeface="Calibri"/>
              </a:rPr>
              <a:t>2.88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840480"/>
            <a:ext cx="6217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Calibri"/>
              </a:rPr>
              <a:t>Cost / cognitive load — fewer refine loops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61772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617720"/>
            <a:ext cx="91440" cy="914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873752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8B9BB4"/>
                </a:solidFill>
                <a:latin typeface="Calibri"/>
              </a:rPr>
              <a:t>Tokens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818888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BBF24"/>
                </a:solidFill>
                <a:latin typeface="Calibri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892040"/>
            <a:ext cx="6217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Calibri"/>
              </a:rPr>
              <a:t>Offline default — no paid LLM on score path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656832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ShopPilot · TechJam 2026 Track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65683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0" y="-914400"/>
            <a:ext cx="5486400" cy="5029200"/>
          </a:xfrm>
          <a:prstGeom prst="roundRect">
            <a:avLst>
              <a:gd name="adj" fmla="val 50000"/>
            </a:avLst>
          </a:prstGeom>
          <a:solidFill>
            <a:srgbClr val="1A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097280" y="3840480"/>
            <a:ext cx="4572000" cy="4114800"/>
          </a:xfrm>
          <a:prstGeom prst="roundRect">
            <a:avLst>
              <a:gd name="adj" fmla="val 50000"/>
            </a:avLst>
          </a:prstGeom>
          <a:solidFill>
            <a:srgbClr val="0C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2D8F"/>
                </a:solidFill>
                <a:latin typeface="Calibri"/>
              </a:rPr>
              <a:t>THANKS  · 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00D4FF"/>
                </a:solidFill>
                <a:latin typeface="Calibri"/>
              </a:rPr>
              <a:t>Shop</a:t>
            </a:r>
            <a:r>
              <a:rPr sz="4800" b="1">
                <a:solidFill>
                  <a:srgbClr val="FF2D8F"/>
                </a:solidFill>
                <a:latin typeface="Calibri"/>
              </a:rPr>
              <a:t>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0058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F8FAFC"/>
                </a:solidFill>
                <a:latin typeface="Calibri"/>
              </a:rPr>
              <a:t>Offline-first multi-turn shopping copilot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00D4FF"/>
                </a:solidFill>
                <a:latin typeface="Calibri"/>
              </a:rPr>
              <a:t>github.com/algorathem/techjam2026-shopping-copilot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8B9BB4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B9BB4"/>
                </a:solidFill>
                <a:latin typeface="Calibri"/>
              </a:rPr>
              <a:t>Astrid CLI  ·  Tech 0.907  ·  Hit@10 0.975  ·  MTTC 2.88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029200"/>
            <a:ext cx="2926080" cy="502920"/>
          </a:xfrm>
          <a:prstGeom prst="roundRect">
            <a:avLst>
              <a:gd name="adj" fmla="val 30000"/>
            </a:avLst>
          </a:prstGeom>
          <a:solidFill>
            <a:srgbClr val="152033"/>
          </a:solidFill>
          <a:ln w="1587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093208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Live demo ready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5029200"/>
            <a:ext cx="2926080" cy="502920"/>
          </a:xfrm>
          <a:prstGeom prst="roundRect">
            <a:avLst>
              <a:gd name="adj" fmla="val 30000"/>
            </a:avLst>
          </a:prstGeom>
          <a:solidFill>
            <a:srgbClr val="152033"/>
          </a:solidFill>
          <a:ln w="15875">
            <a:solidFill>
              <a:srgbClr val="FF2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5093208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Reproduce: local_evaluator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5029200"/>
            <a:ext cx="2926080" cy="502920"/>
          </a:xfrm>
          <a:prstGeom prst="roundRect">
            <a:avLst>
              <a:gd name="adj" fmla="val 30000"/>
            </a:avLst>
          </a:prstGeom>
          <a:solidFill>
            <a:srgbClr val="152033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5093208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Track 4 · CSJ 50k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656832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TechJam 2026 Track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65683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