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1F5F9"/>
                </a:solidFill>
                <a:latin typeface="Calibri"/>
              </a:rPr>
              <a:t>ShopPilot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ED3C6"/>
                </a:solidFill>
                <a:latin typeface="Calibri"/>
              </a:rPr>
              <a:t>Offline-first multi-turn shopping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TechJam 2026  ·  Track 4 — Conversational Search &amp; Recommendations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Demo UI: Astrid CLI  ·  GitHub: algorathem/techjam2026-shopping-copilot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Public kit · TechnicalScore ~0.794  ·  Hit@10 0.935  ·  MTTC ~3.0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D3C6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Keyword search fails when shoppers are vague, change their mind, or need multi-turn constraints.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743200" cy="256032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Calibri"/>
              </a:rPr>
              <a:t>Vague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1F5F9"/>
                </a:solidFill>
                <a:latin typeface="Calibri"/>
              </a:rPr>
              <a:t>"something nice for summer"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103120"/>
            <a:ext cx="2743200" cy="256032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331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Calibri"/>
              </a:rPr>
              <a:t>Ambiguity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1F5F9"/>
                </a:solidFill>
                <a:latin typeface="Calibri"/>
              </a:rPr>
              <a:t>dress vs dress shoes · for my 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2103120"/>
            <a:ext cx="2743200" cy="256032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39" y="2331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Calibri"/>
              </a:rPr>
              <a:t>Mind-change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39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1F5F9"/>
                </a:solidFill>
                <a:latin typeface="Calibri"/>
              </a:rPr>
              <a:t>intent override mid-session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19" y="2103120"/>
            <a:ext cx="2743200" cy="256032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599" y="2331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Calibri"/>
              </a:rPr>
              <a:t>Turn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599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1F5F9"/>
                </a:solidFill>
                <a:latin typeface="Calibri"/>
              </a:rPr>
              <a:t>≤10 turns or the session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Calibri"/>
              </a:rPr>
              <a:t>Scored on: Hit@10 · MRR · MTTC → TechnicalScore   |   Frozen CSJ catalog (50k) · hidden parent_asin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ShopPilot · TechJam 2026 Track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D3C6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1F5F9"/>
                </a:solidFill>
                <a:latin typeface="Calibri"/>
              </a:rPr>
              <a:t>Headless offline-first agent: each turn returns message + one ask_attribute + Top-10 ASINs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4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08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Buy/browse · family · audience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502920" cy="502920"/>
          </a:xfrm>
          <a:prstGeom prst="ellipse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331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Slots · override hygiene · multi-fill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4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154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FTS5 + dense hybrid (in-memory)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023360"/>
            <a:ext cx="502920" cy="502920"/>
          </a:xfrm>
          <a:prstGeom prst="ellipse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4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Clarify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77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other-first · skip filled · ≤10 turns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846320"/>
            <a:ext cx="502920" cy="502920"/>
          </a:xfrm>
          <a:prstGeom prst="ellipse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4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00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800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Constraints · family · light priors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ShopPilot · TechJam 2026 Track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D3C6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D3C6"/>
                </a:solidFill>
                <a:latin typeface="Calibri"/>
              </a:rPr>
              <a:t>User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free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18872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1463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D3C6"/>
                </a:solidFill>
                <a:latin typeface="Calibri"/>
              </a:rPr>
              <a:t>DST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slots · family · audience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18872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1463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D3C6"/>
                </a:solidFill>
                <a:latin typeface="Calibri"/>
              </a:rPr>
              <a:t>Hybrid 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FTS +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18872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463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D3C6"/>
                </a:solidFill>
                <a:latin typeface="Calibri"/>
              </a:rPr>
              <a:t>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constraints · priors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32004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34747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D3C6"/>
                </a:solidFill>
                <a:latin typeface="Calibri"/>
              </a:rPr>
              <a:t>Clarify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3931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other → open slots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2004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4747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D3C6"/>
                </a:solidFill>
                <a:latin typeface="Calibri"/>
              </a:rPr>
              <a:t>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msg + ask + Top-10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Calibri"/>
              </a:rPr>
              <a:t>Design choices (measured)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other-first + static ask ladder (max-IG ask policy → Tech ~0.72 — rejected)  ·  soft-only override wipe  ·  corpus-grounded facet wording  ·  offline default, optional LLM 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ShopPilot · TechJam 2026 Track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D3C6"/>
                </a:solidFill>
                <a:latin typeface="Calibri"/>
              </a:rPr>
              <a:t>Results — public 200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TechnicalScore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0.11 → 0.794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7×+ vs weak BM25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18872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Hit@10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0.125 → 0.935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target in top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18872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9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MTTC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39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9.8 → 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39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fewer turns to hit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18872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599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599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599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offline default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31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Calibri"/>
              </a:rPr>
              <a:t>What moved the needle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1F5F9"/>
                </a:solidFill>
                <a:latin typeface="Calibri"/>
              </a:rPr>
              <a:t>Override hygiene · hybrid dense hash · family/audience routing · multi-slot freeform · profile/rating cold-start priors — each kept only if Tech stayed ≥ prior baseline.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Optional Gemini NLU/rerank: gated flags only; not required for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ShopPilot · TechJam 2026 Track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D3C6"/>
                </a:solidFill>
                <a:latin typeface="Calibri"/>
              </a:rPr>
              <a:t>Live demo — Astrid CLI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05840"/>
            <a:ext cx="11064240" cy="4754880"/>
          </a:xfrm>
          <a:prstGeom prst="roundRect">
            <a:avLst>
              <a:gd name="adj" fmla="val 8000"/>
            </a:avLst>
          </a:prstGeom>
          <a:solidFill>
            <a:srgbClr val="16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$ python3 cli_chat.py --dense hash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78BFA"/>
                </a:solidFill>
                <a:latin typeface="Calibri"/>
              </a:rPr>
              <a:t>     _        _        _     _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78BFA"/>
                </a:solidFill>
                <a:latin typeface="Calibri"/>
              </a:rPr>
              <a:t>    / \   ___| |_ _ __(_) __| |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78BFA"/>
                </a:solidFill>
                <a:latin typeface="Calibri"/>
              </a:rPr>
              <a:t>   / _ \ / __| __| '__| |/ _` |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78BFA"/>
                </a:solidFill>
                <a:latin typeface="Calibri"/>
              </a:rPr>
              <a:t>  / ___ \__ \ |_| |  | | (_| |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78BFA"/>
                </a:solidFill>
                <a:latin typeface="Calibri"/>
              </a:rPr>
              <a:t> /_/   \_\___/\__|_|  |_|\__,_|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  Astrid  ·  quiet clarity for every aisle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  offline hybrid shopping agent  ·  dense=hash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ED3C6"/>
                </a:solidFill>
                <a:latin typeface="Calibri"/>
              </a:rPr>
              <a:t>  You · shoes for my son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  Astrid: Got it (footwear; boys). Any color…?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B44C"/>
                </a:solidFill>
                <a:latin typeface="Calibri"/>
              </a:rPr>
              <a:t>  ↳ asking · other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  1. Kids Boys Girls Soft Slippers 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Record real terminal for YouTube · this slide is a storyboard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D3C6"/>
                </a:solidFill>
                <a:latin typeface="Calibri"/>
              </a:rPr>
              <a:t>Impact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•  Findability KPI: Hit@10 0.935 on public kit (exact parent_asin).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•  Cost-to-serve: MTTC ~3 turns vs ~10 for weak BM25 — fewer refine loops.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•  Merchant-owned brain: offline API mid-market can run without a paid LLM.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•  Literature-aligned CQ/DST; kit-aligned ask policy after measured A/B.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•  Same loop as real conversational commerce — catalog-grounded, not chatbot theater.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ShopPilot · TechJam 2026 Track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D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1F5F9"/>
                </a:solidFill>
                <a:latin typeface="Calibri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ED3C6"/>
                </a:solidFill>
                <a:latin typeface="Calibri"/>
              </a:rPr>
              <a:t>ShopPilot  ·  offline-first shopping copilot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1F5F9"/>
                </a:solidFill>
                <a:latin typeface="Calibri"/>
              </a:rPr>
              <a:t>github.com/algorathem/techjam2026-shopping-copilot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Demo UI: Astrid CLI  ·  Tech ~0.794  ·  Hit@10 0.935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TechJam 2026 Track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