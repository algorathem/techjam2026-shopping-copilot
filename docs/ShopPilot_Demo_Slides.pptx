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Weak BM25</c:v>
                </c:pt>
              </c:strCache>
            </c:strRef>
          </c:tx>
          <c:spPr>
            <a:solidFill>
              <a:srgbClr val="64748B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0.107</c:v>
                </c:pt>
                <c:pt idx="1">
                  <c:v>0.125</c:v>
                </c:pt>
                <c:pt idx="2">
                  <c:v>0.068</c:v>
                </c:pt>
                <c:pt idx="3">
                  <c:v>0.119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ShopPilot</c:v>
                </c:pt>
              </c:strCache>
            </c:strRef>
          </c:tx>
          <c:spPr>
            <a:solidFill>
              <a:srgbClr val="00D4F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Tech</c:v>
                </c:pt>
                <c:pt idx="1">
                  <c:v>Hit@10</c:v>
                </c:pt>
                <c:pt idx="2">
                  <c:v>MRR</c:v>
                </c:pt>
                <c:pt idx="3">
                  <c:v>Efficiency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0.907</c:v>
                </c:pt>
                <c:pt idx="1">
                  <c:v>0.975</c:v>
                </c:pt>
                <c:pt idx="2">
                  <c:v>0.858</c:v>
                </c:pt>
                <c:pt idx="3">
                  <c:v>0.813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Hit@10</c:v>
                </c:pt>
              </c:strCache>
            </c:strRef>
          </c:tx>
          <c:spPr>
            <a:solidFill>
              <a:srgbClr val="00D4F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0.975</c:v>
                </c:pt>
                <c:pt idx="1">
                  <c:v>0.975</c:v>
                </c:pt>
                <c:pt idx="2">
                  <c:v>0.967</c:v>
                </c:pt>
                <c:pt idx="3">
                  <c:v>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FF2D8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1000" b="1">
                    <a:solidFill>
                      <a:srgbClr val="F8FAFC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Buying</c:v>
                </c:pt>
                <c:pt idx="1">
                  <c:v>Browsing</c:v>
                </c:pt>
                <c:pt idx="2">
                  <c:v>Override</c:v>
                </c:pt>
                <c:pt idx="3">
                  <c:v>Boundary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0.856</c:v>
                </c:pt>
                <c:pt idx="1">
                  <c:v>0.846</c:v>
                </c:pt>
                <c:pt idx="2">
                  <c:v>0.868</c:v>
                </c:pt>
                <c:pt idx="3">
                  <c:v>0.933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100">
                <a:solidFill>
                  <a:srgbClr val="8B9BB4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A3A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3A55"/>
            </a:solidFill>
          </a:ln>
        </c:spPr>
        <c:txPr>
          <a:bodyPr/>
          <a:lstStyle/>
          <a:p>
            <a:pPr>
              <a:defRPr sz="1000">
                <a:solidFill>
                  <a:srgbClr val="8B9BB4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8B9BB4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04672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1371600" y="4114800"/>
            <a:ext cx="50292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TECHJAM 2026  ·  TRACK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800" b="1">
                <a:solidFill>
                  <a:srgbClr val="00D4FF"/>
                </a:solidFill>
                <a:latin typeface="Calibri"/>
              </a:rPr>
              <a:t>Shop</a:t>
            </a:r>
            <a:r>
              <a:rPr sz="5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Hybrid FTS +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Stateful DST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Clarify ≤10 turns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3794760"/>
            <a:ext cx="24688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858768"/>
            <a:ext cx="2468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Tech 0.907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54880"/>
            <a:ext cx="10058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8B9BB4"/>
                </a:solidFill>
                <a:latin typeface="Calibri"/>
              </a:rPr>
              <a:t>Demo UI: Astrid CLI  ·  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Public 200  ·  Hit@10 0.975  ·  MTTC 2.88  ·  tokens 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 ·  Astrid theme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Keyword search breaks on real shopping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Vague goals, dual-meaning SKUs, mid-session mind-change, and a hard ≤10-turn budget.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D4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Vague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"something nice for summer"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554480"/>
            <a:ext cx="2743200" cy="73152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Ambiguity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dress vs dress shoes  ·  gift for my 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554480"/>
            <a:ext cx="274320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Mind-change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intent override mid-session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554480"/>
            <a:ext cx="2743200" cy="3200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554480"/>
            <a:ext cx="274320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828800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BBF24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286000"/>
            <a:ext cx="2286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Turn 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9260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miss after turn 10 → session fails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2920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1A2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2D8F"/>
                </a:solidFill>
                <a:latin typeface="Calibri"/>
              </a:rPr>
              <a:t>Scored job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Find the hidden parent_asin in ≤10 turns on a frozen 50k CSJ catalog  ·  Hit@10 · MRR · MTTC → TechnicalScore = 0.5·Hit + 0.3·MRR + 0.2·Efficiency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02  · 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Headless offline agent — one turn, three outputs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Each respond() returns message + one ask_attribute + Top-10 ASINs. No required LLM.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01168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43560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554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Intent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8191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Buy / browse · family · audience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880359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377439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230428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00200" y="242315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45059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Slots · override hygiene · multi-fill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74904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317296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329184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31927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FTS5 OR/AND + dense hash hybrid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4617720"/>
            <a:ext cx="36576" cy="411480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041648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00200" y="416052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Clarify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4187952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other-first · skip filled · ≤10 turns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4983479"/>
            <a:ext cx="457200" cy="45720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sz="16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4910327"/>
            <a:ext cx="10058400" cy="6400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029199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056631"/>
            <a:ext cx="7132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8B9BB4"/>
                </a:solidFill>
                <a:latin typeface="Calibri"/>
              </a:rPr>
              <a:t>Constraint coverage · family · light priors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03  · 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Multi-turn loop — state is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Each turn: past SessionState + current text → Top-10 + one ask. Catalog immutable. LLM optional /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14884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14884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64592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187451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slots · family · audience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87752" y="205740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0" y="1417320"/>
            <a:ext cx="214884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1417320"/>
            <a:ext cx="2148840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80360" y="1600200"/>
            <a:ext cx="384048" cy="384048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64592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2194560"/>
            <a:ext cx="187451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FTS5 + dense hash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19472" y="205740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74920" y="1417320"/>
            <a:ext cx="214884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1417320"/>
            <a:ext cx="2148840" cy="7315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12080" y="1600200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164592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194560"/>
            <a:ext cx="187451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coverage · priors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51192" y="205740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1417320"/>
            <a:ext cx="214884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06640" y="1417320"/>
            <a:ext cx="214884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43800" y="1600200"/>
            <a:ext cx="384048" cy="38404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164592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194560"/>
            <a:ext cx="187451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other-first ladder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82912" y="2057400"/>
            <a:ext cx="146304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59" y="1417320"/>
            <a:ext cx="214884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38359" y="1417320"/>
            <a:ext cx="2148840" cy="73152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875519" y="1600200"/>
            <a:ext cx="384048" cy="384048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</a:pPr>
            <a:r>
              <a:rPr sz="14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39" y="1645920"/>
            <a:ext cx="1371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8FAFC"/>
                </a:solidFill>
                <a:latin typeface="Calibri"/>
              </a:rPr>
              <a:t>Respond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19" y="2194560"/>
            <a:ext cx="187451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msg + ask + Top-10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3246120"/>
            <a:ext cx="3611880" cy="292608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1480" y="3246120"/>
            <a:ext cx="91440" cy="29260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42900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SessionState  ·  mutable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931920"/>
            <a:ext cx="32004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soft | disclosed | override sources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family · audience · asked / filled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soft-only wipe on mind-change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next turn = same session_id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06240" y="3246120"/>
            <a:ext cx="3611880" cy="292608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06240" y="3246120"/>
            <a:ext cx="91440" cy="29260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34840" y="342900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Catalog  ·  immutable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4840" y="3931920"/>
            <a:ext cx="32004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FTS5 BM25 in-memory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dense hash 512-d default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MiniLM opt-in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50k CSJ freeze · no turn writes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3246120"/>
            <a:ext cx="3611880" cy="292608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01000" y="3246120"/>
            <a:ext cx="91440" cy="292608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342900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2D8F"/>
                </a:solidFill>
                <a:latin typeface="Calibri"/>
              </a:rPr>
              <a:t>Optional LLM  ·  gated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3931920"/>
            <a:ext cx="3200400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slots NLU + top-20 rerank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fail-open timeout →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NOT on default score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F8FAFC"/>
                </a:solidFill>
                <a:latin typeface="Calibri"/>
              </a:rPr>
              <a:t>tokens on default path: 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04  ·  ARCHITECTURE IN THE LITERATURE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8FAFC"/>
                </a:solidFill>
                <a:latin typeface="Calibri"/>
              </a:rPr>
              <a:t>Classical CRS stack → ShopPilot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Editable shapes (not paper screenshots)  ·  Qulac · Bayesian CRS · DST · corpus CQs · hybrid 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5486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A  ·  CLASSICAL CRS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utterance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87168" y="1874519"/>
            <a:ext cx="182880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97480" y="155448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169164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NLU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0574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intents+slots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27448" y="1874519"/>
            <a:ext cx="182880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37760" y="155448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69164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DST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0574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belief state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67728" y="1874519"/>
            <a:ext cx="182880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55448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9164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0574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ask/recommend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08008" y="1874519"/>
            <a:ext cx="182880" cy="20116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18320" y="155448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0" y="1691640"/>
            <a:ext cx="1828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NLG/IR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057400"/>
            <a:ext cx="1828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msg + items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606040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A855F7"/>
                </a:solidFill>
                <a:latin typeface="Calibri"/>
              </a:rPr>
              <a:t>B  ·  DIALOG STATE TRACKING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92608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01752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Utterance 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33756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text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069080" y="3200400"/>
            <a:ext cx="182880" cy="18288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97680" y="292608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State update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33756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slots · sources · wipe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909560" y="3200400"/>
            <a:ext cx="182880" cy="18288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138160" y="292608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301752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SessionState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337560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soft|disclosed|override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886200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BBF24"/>
                </a:solidFill>
                <a:latin typeface="Calibri"/>
              </a:rPr>
              <a:t>C  ·  CLARIFYING QUESTIONS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160520"/>
            <a:ext cx="5486400" cy="196596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Theory (ablated)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66344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max E[IG] / min H(posterior)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Bayesian CRS · pool entropy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brand/store splits look high-IG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on THIS kit → Tech ~0.72  REJECT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160520"/>
            <a:ext cx="5486400" cy="196596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297680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Calibri"/>
              </a:rPr>
              <a:t>ShopPilot ship 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66344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other-first + static ladder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skip filled / dont_care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corpus facets in MESSAGE only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protocol-aligned CQ · Tech ~0.91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05  ·  ARCHITECTURE DETAIL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8FAFC"/>
                </a:solidFill>
                <a:latin typeface="Calibri"/>
              </a:rPr>
              <a:t>End-to-end system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Native PowerPoint shapes — fully editable in Canva / Keynote / PPT  ·  Tech 0.909 · Hit 0.975 · 0 tokens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14630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0D4FF"/>
                </a:solidFill>
                <a:latin typeface="Calibri"/>
              </a:rPr>
              <a:t>ENTRY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63040"/>
            <a:ext cx="1554480" cy="1417320"/>
          </a:xfrm>
          <a:prstGeom prst="roundRect">
            <a:avLst>
              <a:gd name="adj" fmla="val 10000"/>
            </a:avLst>
          </a:prstGeom>
          <a:solidFill>
            <a:srgbClr val="1A263C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600200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CLI / Eval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alibri"/>
              </a:rPr>
              <a:t>reset · respond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94560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User turn 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B9BB4"/>
                </a:solidFill>
                <a:latin typeface="Calibri"/>
              </a:rPr>
              <a:t>text +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23444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HOT PATH  ·  Agent.respond (sync)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57400" y="1508760"/>
            <a:ext cx="1691640" cy="12344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67128" y="1691640"/>
            <a:ext cx="329184" cy="329184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1200" b="1">
                <a:solidFill>
                  <a:srgbClr val="0A121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171907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67128" y="2194560"/>
            <a:ext cx="1508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slots · family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67327" y="2011680"/>
            <a:ext cx="164592" cy="18288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50208" y="1508760"/>
            <a:ext cx="1691640" cy="12344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059936" y="1691640"/>
            <a:ext cx="329184" cy="329184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1200" b="1">
                <a:solidFill>
                  <a:srgbClr val="0A121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171907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Retrieve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59936" y="2194560"/>
            <a:ext cx="1508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FTS5 + dense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660136" y="2011680"/>
            <a:ext cx="164592" cy="18288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43016" y="1508760"/>
            <a:ext cx="1691640" cy="12344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952744" y="1691640"/>
            <a:ext cx="329184" cy="329184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1200" b="1">
                <a:solidFill>
                  <a:srgbClr val="0A121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171907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Rank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2744" y="2194560"/>
            <a:ext cx="1508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coverage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552944" y="2011680"/>
            <a:ext cx="164592" cy="18288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35824" y="1508760"/>
            <a:ext cx="1691640" cy="12344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45552" y="1691640"/>
            <a:ext cx="329184" cy="329184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1200" b="1">
                <a:solidFill>
                  <a:srgbClr val="0A121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171907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2194560"/>
            <a:ext cx="1508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other-first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445752" y="2011680"/>
            <a:ext cx="164592" cy="182880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28632" y="1508760"/>
            <a:ext cx="1691640" cy="123444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738360" y="1691640"/>
            <a:ext cx="329184" cy="329184"/>
          </a:xfrm>
          <a:prstGeom prst="ellipse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300"/>
              </a:spcBef>
            </a:pPr>
            <a:r>
              <a:rPr sz="1200" b="1">
                <a:solidFill>
                  <a:srgbClr val="0A121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31552" y="1719072"/>
            <a:ext cx="10972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Respond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2194560"/>
            <a:ext cx="1508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8B9BB4"/>
                </a:solidFill>
                <a:latin typeface="Calibri"/>
              </a:rPr>
              <a:t>Top-10 + ask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874519" y="2011680"/>
            <a:ext cx="164592" cy="18288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972800" y="1783080"/>
            <a:ext cx="960120" cy="640080"/>
          </a:xfrm>
          <a:prstGeom prst="roundRect">
            <a:avLst>
              <a:gd name="adj" fmla="val 15000"/>
            </a:avLst>
          </a:prstGeom>
          <a:solidFill>
            <a:srgbClr val="1A263C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0" y="1920240"/>
            <a:ext cx="9601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client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0744200" y="2011680"/>
            <a:ext cx="182880" cy="182880"/>
          </a:xfrm>
          <a:prstGeom prst="rightArrow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2697480" y="2788920"/>
            <a:ext cx="182880" cy="320040"/>
          </a:xfrm>
          <a:prstGeom prst="down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0" y="2834640"/>
            <a:ext cx="5486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write</a:t>
            </a:r>
          </a:p>
        </p:txBody>
      </p:sp>
      <p:sp>
        <p:nvSpPr>
          <p:cNvPr id="42" name="Up Arrow 41"/>
          <p:cNvSpPr/>
          <p:nvPr/>
        </p:nvSpPr>
        <p:spPr>
          <a:xfrm>
            <a:off x="4480560" y="2788920"/>
            <a:ext cx="182880" cy="320040"/>
          </a:xfrm>
          <a:prstGeom prst="up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2834640"/>
            <a:ext cx="50292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34D399"/>
                </a:solidFill>
                <a:latin typeface="Calibri"/>
              </a:rPr>
              <a:t>read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20040" y="3200400"/>
            <a:ext cx="5394960" cy="292608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0040" y="3200400"/>
            <a:ext cx="91440" cy="292608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333756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34D399"/>
                </a:solidFill>
                <a:latin typeface="Calibri"/>
              </a:rPr>
              <a:t>SessionState  ·  mutable RAM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3749039"/>
            <a:ext cx="493776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Slots   soft | disclosed | override · filled / asked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Route   product_family · gift audience · buy/browse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Clean   soft-only wipe · never re-ask filled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Loop    next turn = past state + current text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440680"/>
            <a:ext cx="4937760" cy="502920"/>
          </a:xfrm>
          <a:prstGeom prst="roundRect">
            <a:avLst>
              <a:gd name="adj" fmla="val 10000"/>
            </a:avLst>
          </a:prstGeom>
          <a:solidFill>
            <a:srgbClr val="1A263C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53212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INVARIANT  t3 "black" ranks with dress+plus+black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97880" y="3200400"/>
            <a:ext cx="3017520" cy="292608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97880" y="3200400"/>
            <a:ext cx="91440" cy="29260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3337560"/>
            <a:ext cx="2651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Catalog  ·  immutable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794760"/>
            <a:ext cx="2651760" cy="2103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FTS5 BM25 in-memory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Dense hash 512-d default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MiniLM opt-in only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_products · 50k CSJ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no writes at turn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8280" y="3200400"/>
            <a:ext cx="2788920" cy="155448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098280" y="3200400"/>
            <a:ext cx="91440" cy="155448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0" y="3291840"/>
            <a:ext cx="2423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Optional LLM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326880" y="3611880"/>
            <a:ext cx="24231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OFF · not on score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slots NLU · rerank top-20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Calibri"/>
              </a:rPr>
              <a:t>timeout → rules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98280" y="4937760"/>
            <a:ext cx="2788920" cy="1188720"/>
          </a:xfrm>
          <a:prstGeom prst="roundRect">
            <a:avLst>
              <a:gd name="adj" fmla="val 10000"/>
            </a:avLst>
          </a:prstGeom>
          <a:solidFill>
            <a:srgbClr val="1A263C"/>
          </a:solidFill>
          <a:ln w="1587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0" y="5074920"/>
            <a:ext cx="2423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539496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Hit · MRR · MTTC → Tech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public 200 · guardrail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" y="6217920"/>
            <a:ext cx="11567160" cy="292608"/>
          </a:xfrm>
          <a:prstGeom prst="roundRect">
            <a:avLst>
              <a:gd name="adj" fmla="val 15000"/>
            </a:avLst>
          </a:prstGeom>
          <a:solidFill>
            <a:srgbClr val="1A263C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0040" y="6236208"/>
            <a:ext cx="11567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D4FF"/>
                </a:solidFill>
                <a:latin typeface="Calibri"/>
              </a:rPr>
              <a:t>next turn ↺  same session_id   ·   state write/read   ·   catalog index read-only   ·   LLM off score path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06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Public 200 — weak BM25 vs ShopPilot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Official local_evaluator · SHOPPILOT_DENSE=hash · deterministic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274320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TechnicalScore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00D4FF"/>
                </a:solidFill>
                <a:latin typeface="Calibri"/>
              </a:rPr>
              <a:t>from 0.107  ·  ~8.5×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417320"/>
            <a:ext cx="2743200" cy="54864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0.975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2D8F"/>
                </a:solidFill>
                <a:latin typeface="Calibri"/>
              </a:rPr>
              <a:t>from 0.125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417320"/>
            <a:ext cx="2743200" cy="5486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0.858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A855F7"/>
                </a:solidFill>
                <a:latin typeface="Calibri"/>
              </a:rPr>
              <a:t>from 0.068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417320"/>
            <a:ext cx="2743200" cy="1554480"/>
          </a:xfrm>
          <a:prstGeom prst="roundRect">
            <a:avLst>
              <a:gd name="adj" fmla="val 12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0" y="1417320"/>
            <a:ext cx="274320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1618488"/>
            <a:ext cx="2377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1920240"/>
            <a:ext cx="23774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Calibri"/>
              </a:rPr>
              <a:t>2.88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514600"/>
            <a:ext cx="2377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from 9.81 turns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00400"/>
            <a:ext cx="685800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9184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B9BB4"/>
                </a:solidFill>
                <a:latin typeface="Calibri"/>
              </a:rPr>
              <a:t>Metric comparison (higher better; MTTC inverted scale n/a)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40080" y="3566160"/>
          <a:ext cx="658368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7589520" y="3200400"/>
            <a:ext cx="4069080" cy="310896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73152" cy="310896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18120" y="3383280"/>
            <a:ext cx="3657600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What moved the needle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Override hygiene (soft-only wipe)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Hybrid dense hash lane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Family + audience routing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other-first clarify policy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Multi-slot freeform atomize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Cold-start profile/rating priors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Each kept only if Tech ≥ floor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4D399"/>
                </a:solidFill>
                <a:latin typeface="Calibri"/>
              </a:rPr>
              <a:t>Tokens default path: 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07  ·  BY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Hit@10 holds across buying, browse, override,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Override pays more MTTC (mind-change cost) but still Hit 0.967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6949440" cy="4754880"/>
          </a:xfrm>
          <a:prstGeom prst="roundRect">
            <a:avLst>
              <a:gd name="adj" fmla="val 8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0876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D4FF"/>
                </a:solidFill>
                <a:latin typeface="Calibri"/>
              </a:rPr>
              <a:t>Hit@10 by scenario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828800"/>
          <a:ext cx="66751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1417320"/>
            <a:ext cx="3931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2D8F"/>
                </a:solidFill>
                <a:latin typeface="Calibri"/>
              </a:rPr>
              <a:t>MTTC (turns to first hit)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87451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80960" y="187451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03911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Buying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01167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2.45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246887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2468879"/>
            <a:ext cx="851306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0" y="292607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0" y="2926079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309067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Browsing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06323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2.79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352043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55279" y="3520439"/>
            <a:ext cx="969446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80960" y="3977639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80960" y="397763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4142231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Override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4114799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00D4FF"/>
                </a:solidFill>
                <a:latin typeface="Calibri"/>
              </a:rPr>
              <a:t>4.20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4571999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4571999"/>
            <a:ext cx="1459382" cy="128016"/>
          </a:xfrm>
          <a:prstGeom prst="roundRect">
            <a:avLst>
              <a:gd name="adj" fmla="val 50000"/>
            </a:avLst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680960" y="5029200"/>
            <a:ext cx="3977639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0" y="5029200"/>
            <a:ext cx="73152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5193792"/>
            <a:ext cx="21945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Calibri"/>
              </a:rPr>
              <a:t>Boundary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5166360"/>
            <a:ext cx="1371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2D8F"/>
                </a:solidFill>
                <a:latin typeface="Calibri"/>
              </a:rPr>
              <a:t>3.00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5623560"/>
            <a:ext cx="3474720" cy="128016"/>
          </a:xfrm>
          <a:prstGeom prst="roundRect">
            <a:avLst>
              <a:gd name="adj" fmla="val 50000"/>
            </a:avLst>
          </a:prstGeom>
          <a:solidFill>
            <a:srgbClr val="1E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5279" y="5623560"/>
            <a:ext cx="1042415" cy="128016"/>
          </a:xfrm>
          <a:prstGeom prst="roundRect">
            <a:avLst>
              <a:gd name="adj" fmla="val 50000"/>
            </a:avLst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08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Astrid CLI — live multi-turn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python3 cli_chat.py --dense hash   ·   /new  /state  /quit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7040880" cy="4754880"/>
          </a:xfrm>
          <a:prstGeom prst="roundRect">
            <a:avLst>
              <a:gd name="adj" fmla="val 8000"/>
            </a:avLst>
          </a:prstGeom>
          <a:solidFill>
            <a:srgbClr val="080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7040880" cy="365760"/>
          </a:xfrm>
          <a:prstGeom prst="rect">
            <a:avLst/>
          </a:prstGeom>
          <a:solidFill>
            <a:srgbClr val="121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508760"/>
            <a:ext cx="146304" cy="146304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1508760"/>
            <a:ext cx="146304" cy="146304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97864" y="1508760"/>
            <a:ext cx="146304" cy="146304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4630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astrid — dense=hash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65960"/>
            <a:ext cx="6583680" cy="4023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Calibri"/>
              </a:rPr>
              <a:t>$ python3 cli_chat.py --dense hash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  Astrid  ·  quiet clarity for every aisle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shoes for my 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Got it (footwear; boys). Any color…?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BF24"/>
                </a:solidFill>
                <a:latin typeface="Calibri"/>
              </a:rPr>
              <a:t>  ↳ ask · other     Top-3 footwear titles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00D4FF"/>
                </a:solidFill>
                <a:latin typeface="Calibri"/>
              </a:rPr>
              <a:t>  You · Actually forget sneakers, dress shoes size 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Calibri"/>
              </a:rPr>
              <a:t>  Astrid: Updated (footwear; size 9). Color?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B7185"/>
                </a:solidFill>
                <a:latin typeface="Calibri"/>
              </a:rPr>
              <a:t>  ↳ override wiped soft prefs · kept size path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8B9BB4"/>
                </a:solidFill>
                <a:latin typeface="Calibri"/>
              </a:rPr>
              <a:t>  /state → family=footwear  size=9  asked={other}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4173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1417320"/>
            <a:ext cx="73152" cy="137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64592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0D4FF"/>
                </a:solidFill>
                <a:latin typeface="Calibri"/>
              </a:rPr>
              <a:t>Vague → clarify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dress + exploring → other → plus size locks size (no re-ask)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97180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2971800"/>
            <a:ext cx="73152" cy="13716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320040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2D8F"/>
                </a:solidFill>
                <a:latin typeface="Calibri"/>
              </a:rPr>
              <a:t>Family lock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"dress sandals" → footwear, not garment dresses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452628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0" y="4526280"/>
            <a:ext cx="73152" cy="13716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47548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A855F7"/>
                </a:solidFill>
                <a:latin typeface="Calibri"/>
              </a:rPr>
              <a:t>Intent override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66360"/>
            <a:ext cx="34747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B9BB4"/>
                </a:solidFill>
                <a:latin typeface="Calibri"/>
              </a:rPr>
              <a:t>running shoes → dress shoes; size 9 persists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657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2D8F"/>
                </a:solidFill>
                <a:latin typeface="Calibri"/>
              </a:rPr>
              <a:t>09  · 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8FAFC"/>
                </a:solidFill>
                <a:latin typeface="Calibri"/>
              </a:rPr>
              <a:t>Kit metrics → merchant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Honest framing: offline simulation ≠ live GMV A/B — same job-to-be-done as conversational commerce.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91440" cy="9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1907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Hit@10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6420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0D4FF"/>
                </a:solidFill>
                <a:latin typeface="Calibri"/>
              </a:rPr>
              <a:t>0.975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73736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Findability — target ASIN in top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1460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14600"/>
            <a:ext cx="91440" cy="9144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77063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1576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2D8F"/>
                </a:solidFill>
                <a:latin typeface="Calibri"/>
              </a:rPr>
              <a:t>0.858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78892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Rank quality — earlier positions win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6616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91440" cy="914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82219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MTTC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76732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A855F7"/>
                </a:solidFill>
                <a:latin typeface="Calibri"/>
              </a:rPr>
              <a:t>2.88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84048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Cost / cognitive load — fewer refine loops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617720"/>
            <a:ext cx="11155680" cy="914400"/>
          </a:xfrm>
          <a:prstGeom prst="roundRect">
            <a:avLst>
              <a:gd name="adj" fmla="val 10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617720"/>
            <a:ext cx="91440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873752"/>
            <a:ext cx="1828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8B9BB4"/>
                </a:solidFill>
                <a:latin typeface="Calibri"/>
              </a:rPr>
              <a:t>Tokens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818888"/>
            <a:ext cx="2011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892040"/>
            <a:ext cx="621792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Offline default — no paid LLM on score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ShopPilot · TechJam 2026 Track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0" y="-914400"/>
            <a:ext cx="5486400" cy="5029200"/>
          </a:xfrm>
          <a:prstGeom prst="roundRect">
            <a:avLst>
              <a:gd name="adj" fmla="val 50000"/>
            </a:avLst>
          </a:prstGeom>
          <a:solidFill>
            <a:srgbClr val="1A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-1097280" y="3840480"/>
            <a:ext cx="4572000" cy="4114800"/>
          </a:xfrm>
          <a:prstGeom prst="roundRect">
            <a:avLst>
              <a:gd name="adj" fmla="val 50000"/>
            </a:avLst>
          </a:prstGeom>
          <a:solidFill>
            <a:srgbClr val="0C2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" y="0"/>
            <a:ext cx="36576" cy="6858000"/>
          </a:xfrm>
          <a:prstGeom prst="rect">
            <a:avLst/>
          </a:prstGeom>
          <a:solidFill>
            <a:srgbClr val="FF2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2D8F"/>
                </a:solidFill>
                <a:latin typeface="Calibri"/>
              </a:rPr>
              <a:t>THANKS  · 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00D4FF"/>
                </a:solidFill>
                <a:latin typeface="Calibri"/>
              </a:rPr>
              <a:t>Shop</a:t>
            </a:r>
            <a:r>
              <a:rPr sz="4800" b="1">
                <a:solidFill>
                  <a:srgbClr val="FF2D8F"/>
                </a:solidFill>
                <a:latin typeface="Calibri"/>
              </a:rPr>
              <a:t>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0584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F8FAFC"/>
                </a:solidFill>
                <a:latin typeface="Calibri"/>
              </a:rPr>
              <a:t>Offline-first multi-turn shopping 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00D4FF"/>
                </a:solidFill>
                <a:latin typeface="Calibri"/>
              </a:rPr>
              <a:t>github.com/algorathem/techjam2026-shopping-copilot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B9BB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8B9BB4"/>
                </a:solidFill>
                <a:latin typeface="Calibri"/>
              </a:rPr>
              <a:t>Astrid CLI  ·  Tech 0.907  ·  Hit@10 0.975  ·  MTTC 2.88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Live demo ready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FF2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Reproduce: local_evaluator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5029200"/>
            <a:ext cx="2926080" cy="502920"/>
          </a:xfrm>
          <a:prstGeom prst="roundRect">
            <a:avLst>
              <a:gd name="adj" fmla="val 30000"/>
            </a:avLst>
          </a:prstGeom>
          <a:solidFill>
            <a:srgbClr val="152033"/>
          </a:solidFill>
          <a:ln w="1587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5093208"/>
            <a:ext cx="2926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Track 4 · CSJ 50k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1968"/>
            <a:ext cx="12191695" cy="36576"/>
          </a:xfrm>
          <a:prstGeom prst="rect">
            <a:avLst/>
          </a:prstGeom>
          <a:solidFill>
            <a:srgbClr val="2A3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656832"/>
            <a:ext cx="9601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TechJam 2026 Track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