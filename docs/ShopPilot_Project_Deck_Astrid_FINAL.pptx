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5" r:id="rId16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Weak BM25</c:v>
                </c:pt>
              </c:strCache>
            </c:strRef>
          </c:tx>
          <c:spPr>
            <a:solidFill>
              <a:srgbClr val="64748B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Tech</c:v>
                </c:pt>
                <c:pt idx="1">
                  <c:v>Hit@10</c:v>
                </c:pt>
                <c:pt idx="2">
                  <c:v>MRR</c:v>
                </c:pt>
                <c:pt idx="3">
                  <c:v>Efficiency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0.107</c:v>
                </c:pt>
                <c:pt idx="1">
                  <c:v>0.125</c:v>
                </c:pt>
                <c:pt idx="2">
                  <c:v>0.068</c:v>
                </c:pt>
                <c:pt idx="3">
                  <c:v>0.119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ShopPilot</c:v>
                </c:pt>
              </c:strCache>
            </c:strRef>
          </c:tx>
          <c:spPr>
            <a:solidFill>
              <a:srgbClr val="00D4FF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Tech</c:v>
                </c:pt>
                <c:pt idx="1">
                  <c:v>Hit@10</c:v>
                </c:pt>
                <c:pt idx="2">
                  <c:v>MRR</c:v>
                </c:pt>
                <c:pt idx="3">
                  <c:v>Efficiency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0.907</c:v>
                </c:pt>
                <c:pt idx="1">
                  <c:v>0.975</c:v>
                </c:pt>
                <c:pt idx="2">
                  <c:v>0.858</c:v>
                </c:pt>
                <c:pt idx="3">
                  <c:v>0.813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A55"/>
            </a:solidFill>
          </a:ln>
        </c:spPr>
        <c:txPr>
          <a:bodyPr/>
          <a:lstStyle/>
          <a:p>
            <a:pPr>
              <a:defRPr sz="1100">
                <a:solidFill>
                  <a:srgbClr val="8B9BB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3A5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5"/>
            </a:solidFill>
          </a:ln>
        </c:spPr>
        <c:txPr>
          <a:bodyPr/>
          <a:lstStyle/>
          <a:p>
            <a:pPr>
              <a:defRPr sz="1000">
                <a:solidFill>
                  <a:srgbClr val="8B9BB4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8B9BB4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Hit@10</c:v>
                </c:pt>
              </c:strCache>
            </c:strRef>
          </c:tx>
          <c:spPr>
            <a:solidFill>
              <a:srgbClr val="00D4FF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Buying</c:v>
                </c:pt>
                <c:pt idx="1">
                  <c:v>Browsing</c:v>
                </c:pt>
                <c:pt idx="2">
                  <c:v>Override</c:v>
                </c:pt>
                <c:pt idx="3">
                  <c:v>Boundary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0.975</c:v>
                </c:pt>
                <c:pt idx="1">
                  <c:v>0.975</c:v>
                </c:pt>
                <c:pt idx="2">
                  <c:v>0.967</c:v>
                </c:pt>
                <c:pt idx="3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FF2D8F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Buying</c:v>
                </c:pt>
                <c:pt idx="1">
                  <c:v>Browsing</c:v>
                </c:pt>
                <c:pt idx="2">
                  <c:v>Override</c:v>
                </c:pt>
                <c:pt idx="3">
                  <c:v>Boundary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0.856</c:v>
                </c:pt>
                <c:pt idx="1">
                  <c:v>0.846</c:v>
                </c:pt>
                <c:pt idx="2">
                  <c:v>0.868</c:v>
                </c:pt>
                <c:pt idx="3">
                  <c:v>0.933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3A55"/>
            </a:solidFill>
          </a:ln>
        </c:spPr>
        <c:txPr>
          <a:bodyPr/>
          <a:lstStyle/>
          <a:p>
            <a:pPr>
              <a:defRPr sz="1100">
                <a:solidFill>
                  <a:srgbClr val="8B9BB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2A3A5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5"/>
            </a:solidFill>
          </a:ln>
        </c:spPr>
        <c:txPr>
          <a:bodyPr/>
          <a:lstStyle/>
          <a:p>
            <a:pPr>
              <a:defRPr sz="1000">
                <a:solidFill>
                  <a:srgbClr val="8B9BB4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8B9BB4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A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371600" y="4114800"/>
            <a:ext cx="5029200" cy="4114800"/>
          </a:xfrm>
          <a:prstGeom prst="roundRect">
            <a:avLst>
              <a:gd name="adj" fmla="val 50000"/>
            </a:avLst>
          </a:prstGeom>
          <a:solidFill>
            <a:srgbClr val="0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2D8F"/>
                </a:solidFill>
                <a:latin typeface="Calibri"/>
              </a:rPr>
              <a:t>TECHJAM 2026  ·  TRACK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00D4FF"/>
                </a:solidFill>
                <a:latin typeface="Calibri"/>
              </a:rPr>
              <a:t>Shop</a:t>
            </a:r>
            <a:r>
              <a:rPr sz="5800" b="1">
                <a:solidFill>
                  <a:srgbClr val="FF2D8F"/>
                </a:solidFill>
                <a:latin typeface="Calibri"/>
              </a:rP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F8FAFC"/>
                </a:solidFill>
                <a:latin typeface="Calibri"/>
              </a:rPr>
              <a:t>Offline-first multi-turn shopping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24688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5876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Hybrid FTS + dense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794760"/>
            <a:ext cx="24688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85876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Stateful DST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94760"/>
            <a:ext cx="24688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85876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Clarify ≤10 turns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794760"/>
            <a:ext cx="24688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85876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Tech 0.907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B9BB4"/>
                </a:solidFill>
                <a:latin typeface="Calibri"/>
              </a:rPr>
              <a:t>Demo UI: Astrid CLI  ·  github.com/algorathem/techjam2026-shopping-copilot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Public 200  ·  Hit@10 0.975  ·  MTTC 2.88  ·  tokens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 ·  Astrid theme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01  ·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Keyword search breaks on real shopping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Vague goals, dual-meaning SKUs, mid-session mind-change, and a hard ≤10-turn budget.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27432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Vague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"something nice for summer"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55448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554480"/>
            <a:ext cx="2743200" cy="73152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8288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2D8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2860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Ambiguity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9260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dress vs dress shoes  ·  gift for my 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55448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554480"/>
            <a:ext cx="274320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288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860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Mind-change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260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intent override mid-session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55448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554480"/>
            <a:ext cx="27432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8288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2860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Turn 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9260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miss after turn 10 → session fails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02920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2D8F"/>
                </a:solidFill>
                <a:latin typeface="Calibri"/>
              </a:rPr>
              <a:t>Scored job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Find the hidden parent_asin in ≤10 turns on a frozen 50k CSJ catalog  ·  Hit@10 · MRR · MTTC → TechnicalScore = 0.5·Hit + 0.3·MRR + 0.2·Efficiency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02  ·  SOLUTION +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8FAFC"/>
                </a:solidFill>
                <a:latin typeface="Calibri"/>
              </a:rPr>
              <a:t>Headless offline agent — classical CRS spine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respond() → message + one ask_attribute + Top-10  ·  No required LLM  ·  Same stack as CRS/DST/CQ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SHIPPED PIPELINE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554480"/>
            <a:ext cx="384048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48132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1481328"/>
            <a:ext cx="73152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53619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Ingest / NLU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1051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buy·browse · family · audience · slots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1938528"/>
            <a:ext cx="36576" cy="36576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2377440"/>
            <a:ext cx="384048" cy="384048"/>
          </a:xfrm>
          <a:prstGeom prst="ellipse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30428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2304288"/>
            <a:ext cx="73152" cy="64008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35915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SessionState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3347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soft | disclosed | override · DST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2761488"/>
            <a:ext cx="36576" cy="36576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200400"/>
            <a:ext cx="384048" cy="384048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12724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" y="3127248"/>
            <a:ext cx="73152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318211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Hybrid 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45643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FTS5 BM25 + dense hash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" y="3584448"/>
            <a:ext cx="36576" cy="36576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2920" y="4023360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395020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1560" y="3950208"/>
            <a:ext cx="73152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0050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Clarify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27939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other-first ladder · skip filled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" y="4407408"/>
            <a:ext cx="36576" cy="36576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2920" y="4846320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477316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1560" y="4773168"/>
            <a:ext cx="73152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482803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Rank + respond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10235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coverage · Top-10 + 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234440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LITERATURE → MODULE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155448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1554480"/>
            <a:ext cx="73152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162763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CRS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162763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NLU → DST → Policy → 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188366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our hot path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228600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2286000"/>
            <a:ext cx="73152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35915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DST (1712.10224)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235915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slot–value belief 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261518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SessionState + sources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301752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3017520"/>
            <a:ext cx="73152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309067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Calibri"/>
              </a:rPr>
              <a:t>Qulac / CQs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09067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ask + retrieve each turn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3346703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Top-10 + ask_attribute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374904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3749040"/>
            <a:ext cx="73152" cy="64008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382219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2D8F"/>
                </a:solidFill>
                <a:latin typeface="Calibri"/>
              </a:rPr>
              <a:t>Bayesian max-IG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82219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entropy ask selection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407822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REJECTED · Tech ~0.72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48056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4480560"/>
            <a:ext cx="73152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455371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Corpus-informed CQ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55371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only catalog-supported asks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480974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facet chips in message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521208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17920" y="5212080"/>
            <a:ext cx="73152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528523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Hybrid IR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528523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BM25 + dense late fusion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554126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FTS5 + hash dense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8FAFC"/>
                </a:solidFill>
                <a:latin typeface="Calibri"/>
              </a:rPr>
              <a:t>State-first multi-turn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Native shapes only  ·  Tech 0.909 · Hit 0.975 · 0 tokens  ·  offline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0D4FF"/>
                </a:solidFill>
                <a:latin typeface="Calibri"/>
              </a:rPr>
              <a:t>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89888"/>
            <a:ext cx="1417320" cy="1234440"/>
          </a:xfrm>
          <a:prstGeom prst="roundRect">
            <a:avLst>
              <a:gd name="adj" fmla="val 10000"/>
            </a:avLst>
          </a:prstGeom>
          <a:solidFill>
            <a:srgbClr val="1A263C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1325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CLI / Eval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9BB4"/>
                </a:solidFill>
                <a:latin typeface="Calibri"/>
              </a:rPr>
              <a:t>reset·respond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325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User turn 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9BB4"/>
                </a:solidFill>
                <a:latin typeface="Calibri"/>
              </a:rPr>
              <a:t>text+session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188720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HOT PATH  ·  Agent.respond (sync)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11680" y="1572768"/>
            <a:ext cx="310896" cy="3108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slots·family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21024" y="1874519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76472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67912" y="1572768"/>
            <a:ext cx="310896" cy="31089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FTS+dense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477256" y="1874519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32704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24144" y="1572768"/>
            <a:ext cx="310896" cy="31089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904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44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coverage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333488" y="1874519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88936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80376" y="1572768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0376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other-first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189720" y="1874519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45168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36608" y="1572768"/>
            <a:ext cx="310896" cy="310896"/>
          </a:xfrm>
          <a:prstGeom prst="ellipse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Respond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Top-10+ask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737360" y="1874519"/>
            <a:ext cx="146304" cy="164592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018520" y="1691640"/>
            <a:ext cx="914400" cy="548640"/>
          </a:xfrm>
          <a:prstGeom prst="roundRect">
            <a:avLst>
              <a:gd name="adj" fmla="val 15000"/>
            </a:avLst>
          </a:prstGeom>
          <a:solidFill>
            <a:srgbClr val="1A263C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18520" y="1810512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→ client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808208" y="1874519"/>
            <a:ext cx="164592" cy="164592"/>
          </a:xfrm>
          <a:prstGeom prst="rightArrow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2560320" y="2651760"/>
            <a:ext cx="164592" cy="274320"/>
          </a:xfrm>
          <a:prstGeom prst="down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2697480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write</a:t>
            </a:r>
          </a:p>
        </p:txBody>
      </p:sp>
      <p:sp>
        <p:nvSpPr>
          <p:cNvPr id="42" name="Up Arrow 41"/>
          <p:cNvSpPr/>
          <p:nvPr/>
        </p:nvSpPr>
        <p:spPr>
          <a:xfrm>
            <a:off x="4297680" y="2651760"/>
            <a:ext cx="164592" cy="274320"/>
          </a:xfrm>
          <a:prstGeom prst="up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2697480"/>
            <a:ext cx="457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read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3063240"/>
            <a:ext cx="5394960" cy="30632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3063240"/>
            <a:ext cx="91440" cy="3063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2004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SessionState  ·  mutable 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611880"/>
            <a:ext cx="5029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Slots  soft|disclosed|override · filled/asked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Route  family · gift audience · buy/browse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Clean  soft-only wipe · never re-ask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Loop   past state + current text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INVARIANT  t3 "black" = dress+plus+black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97880" y="3063240"/>
            <a:ext cx="3017520" cy="30632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97880" y="3063240"/>
            <a:ext cx="91440" cy="3063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320040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Catalog  ·  immutable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3611880"/>
            <a:ext cx="26517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FTS5 BM25 in-memory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Dense hash 512-d default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MiniLM opt-in only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_products · 50k CSJ freeze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no writes at turn time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98280" y="3063240"/>
            <a:ext cx="2788920" cy="30632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98280" y="3063240"/>
            <a:ext cx="91440" cy="306324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0" y="320040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Optional + Measure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3611880"/>
            <a:ext cx="24231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LLM OFF · not on score path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slots NLU · rerank top-20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timeout → rules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Hit·MRR·MTTC → Tech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public 200 · guardrail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0040" y="6236208"/>
            <a:ext cx="11567160" cy="274320"/>
          </a:xfrm>
          <a:prstGeom prst="roundRect">
            <a:avLst>
              <a:gd name="adj" fmla="val 15000"/>
            </a:avLst>
          </a:prstGeom>
          <a:solidFill>
            <a:srgbClr val="1A263C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6254496"/>
            <a:ext cx="11567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next turn ↺ same session_id   ·   state write/read   ·   catalog read-only   ·   LLM off score path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04  ·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Public 200 — weak BM25 vs ShopPilot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Official local_evaluator · SHOPPILOT_DENSE=hash · deterministic seeds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18488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TechnicalScore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202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Calibri"/>
              </a:rPr>
              <a:t>0.907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146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0D4FF"/>
                </a:solidFill>
                <a:latin typeface="Calibri"/>
              </a:rPr>
              <a:t>from 0.107  ·  ~8.5×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173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17320"/>
            <a:ext cx="2743200" cy="54864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618488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Hit@10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19202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Calibri"/>
              </a:rPr>
              <a:t>0.975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5146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2D8F"/>
                </a:solidFill>
                <a:latin typeface="Calibri"/>
              </a:rPr>
              <a:t>from 0.125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27432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1618488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19202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Calibri"/>
              </a:rPr>
              <a:t>0.858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5146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855F7"/>
                </a:solidFill>
                <a:latin typeface="Calibri"/>
              </a:rPr>
              <a:t>from 0.068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4173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417320"/>
            <a:ext cx="27432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618488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MTTC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19202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Calibri"/>
              </a:rPr>
              <a:t>2.88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5146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from 9.81 turns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00400"/>
            <a:ext cx="685800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29184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B9BB4"/>
                </a:solidFill>
                <a:latin typeface="Calibri"/>
              </a:rPr>
              <a:t>Metric comparison (higher better; MTTC inverted scale n/a)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40080" y="3566160"/>
          <a:ext cx="658368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589520" y="3200400"/>
            <a:ext cx="406908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3200400"/>
            <a:ext cx="73152" cy="310896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3383280"/>
            <a:ext cx="36576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What moved the needle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Override hygiene (soft-only wipe)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Hybrid dense hash lane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Family + audience routing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other-first clarify policy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Multi-slot freeform atomize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Cold-start profile/rating priors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Each kept only if Tech ≥ floor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Tokens default path: 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05  ·  BY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Hit@10 holds across buying, browse, override,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Override pays more MTTC (mind-change cost) but still Hit 0.967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6949440" cy="4754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Hit@10 by scenario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828800"/>
          <a:ext cx="66751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26679" y="141732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2D8F"/>
                </a:solidFill>
                <a:latin typeface="Calibri"/>
              </a:rPr>
              <a:t>MTTC (turns to first hit)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874519"/>
            <a:ext cx="3977639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874519"/>
            <a:ext cx="73152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039111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Buying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1167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2.45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468879"/>
            <a:ext cx="3474720" cy="12801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2468879"/>
            <a:ext cx="851306" cy="128016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0" y="2926079"/>
            <a:ext cx="3977639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2926079"/>
            <a:ext cx="73152" cy="9144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090671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Browsing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06323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2D8F"/>
                </a:solidFill>
                <a:latin typeface="Calibri"/>
              </a:rPr>
              <a:t>2.79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520439"/>
            <a:ext cx="3474720" cy="12801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79" y="3520439"/>
            <a:ext cx="969446" cy="128016"/>
          </a:xfrm>
          <a:prstGeom prst="roundRect">
            <a:avLst>
              <a:gd name="adj" fmla="val 50000"/>
            </a:avLst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80960" y="3977639"/>
            <a:ext cx="3977639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80960" y="3977639"/>
            <a:ext cx="73152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4142231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Override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11479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4.20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4571999"/>
            <a:ext cx="3474720" cy="12801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79" y="4571999"/>
            <a:ext cx="1459382" cy="128016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80960" y="5029200"/>
            <a:ext cx="3977639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0" y="5029200"/>
            <a:ext cx="73152" cy="9144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5193792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1663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2D8F"/>
                </a:solidFill>
                <a:latin typeface="Calibri"/>
              </a:rPr>
              <a:t>3.00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5623560"/>
            <a:ext cx="3474720" cy="12801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55279" y="5623560"/>
            <a:ext cx="1042415" cy="128016"/>
          </a:xfrm>
          <a:prstGeom prst="roundRect">
            <a:avLst>
              <a:gd name="adj" fmla="val 50000"/>
            </a:avLst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06  ·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Astrid CLI — live multi-turn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python3 cli_chat.py --dense hash   ·   /new  /state  /quit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7040880" cy="4754880"/>
          </a:xfrm>
          <a:prstGeom prst="roundRect">
            <a:avLst>
              <a:gd name="adj" fmla="val 8000"/>
            </a:avLst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040880" cy="365760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0876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" y="1508760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97864" y="150876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4630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astrid — dense=hash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6583680" cy="4023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$ python3 cli_chat.py --dense hash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  Astrid  ·  quiet clarity for every aisle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0D4FF"/>
                </a:solidFill>
                <a:latin typeface="Calibri"/>
              </a:rPr>
              <a:t>  You · shoes for my son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  Astrid: Got it (footwear; boys). Any color…?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  ↳ ask · other     Top-3 footwear titles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0D4FF"/>
                </a:solidFill>
                <a:latin typeface="Calibri"/>
              </a:rPr>
              <a:t>  You · Actually forget sneakers, dress shoes size 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  Astrid: Updated (footwear; size 9). Color?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7185"/>
                </a:solidFill>
                <a:latin typeface="Calibri"/>
              </a:rPr>
              <a:t>  ↳ override wiped soft prefs · kept size path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  /state → family=footwear  size=9  asked={other}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41732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417320"/>
            <a:ext cx="73152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64592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D4FF"/>
                </a:solidFill>
                <a:latin typeface="Calibri"/>
              </a:rPr>
              <a:t>Vague → clarify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474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dress + exploring → other → plus size locks size (no re-ask)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97180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2971800"/>
            <a:ext cx="73152" cy="13716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20040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2D8F"/>
                </a:solidFill>
                <a:latin typeface="Calibri"/>
              </a:rPr>
              <a:t>Family 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11880"/>
            <a:ext cx="3474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"dress sandals" → footwear, not garment dresses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52628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4526280"/>
            <a:ext cx="73152" cy="1371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75488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855F7"/>
                </a:solidFill>
                <a:latin typeface="Calibri"/>
              </a:rPr>
              <a:t>Intent override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66360"/>
            <a:ext cx="3474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running shoes → dress shoes; size 9 persists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07  · 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Kit metrics → merchant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Honest framing: offline simulation ≠ live GMV A/B — same job-to-be-done as conversational commerce.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9144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9BB4"/>
                </a:solidFill>
                <a:latin typeface="Calibri"/>
              </a:rPr>
              <a:t>Hit@10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66420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D4FF"/>
                </a:solidFill>
                <a:latin typeface="Calibri"/>
              </a:rPr>
              <a:t>0.975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37360"/>
            <a:ext cx="6217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Findability — target ASIN in top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14600"/>
            <a:ext cx="91440" cy="9144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7063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9BB4"/>
                </a:solidFill>
                <a:latin typeface="Calibri"/>
              </a:rPr>
              <a:t>MRR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1576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2D8F"/>
                </a:solidFill>
                <a:latin typeface="Calibri"/>
              </a:rPr>
              <a:t>0.858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788920"/>
            <a:ext cx="6217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Rank quality — earlier positions win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6616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91440" cy="914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2219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9BB4"/>
                </a:solidFill>
                <a:latin typeface="Calibri"/>
              </a:rPr>
              <a:t>MTTC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6732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A855F7"/>
                </a:solidFill>
                <a:latin typeface="Calibri"/>
              </a:rPr>
              <a:t>2.88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840480"/>
            <a:ext cx="6217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Cost / cognitive load — fewer refine loops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1772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9144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7375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9BB4"/>
                </a:solidFill>
                <a:latin typeface="Calibri"/>
              </a:rPr>
              <a:t>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1888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BBF24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892040"/>
            <a:ext cx="6217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Offline default — no paid LLM on score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0" y="-914400"/>
            <a:ext cx="5486400" cy="5029200"/>
          </a:xfrm>
          <a:prstGeom prst="roundRect">
            <a:avLst>
              <a:gd name="adj" fmla="val 50000"/>
            </a:avLst>
          </a:prstGeom>
          <a:solidFill>
            <a:srgbClr val="1A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097280" y="3840480"/>
            <a:ext cx="4572000" cy="4114800"/>
          </a:xfrm>
          <a:prstGeom prst="roundRect">
            <a:avLst>
              <a:gd name="adj" fmla="val 50000"/>
            </a:avLst>
          </a:prstGeom>
          <a:solidFill>
            <a:srgbClr val="0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THANKS  · 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D4FF"/>
                </a:solidFill>
                <a:latin typeface="Calibri"/>
              </a:rPr>
              <a:t>Shop</a:t>
            </a:r>
            <a:r>
              <a:rPr sz="4800" b="1">
                <a:solidFill>
                  <a:srgbClr val="FF2D8F"/>
                </a:solidFill>
                <a:latin typeface="Calibri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8FAFC"/>
                </a:solidFill>
                <a:latin typeface="Calibri"/>
              </a:rPr>
              <a:t>Offline-first multi-turn shopping copilot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00D4FF"/>
                </a:solidFill>
                <a:latin typeface="Calibri"/>
              </a:rPr>
              <a:t>github.com/algorathem/techjam2026-shopping-copilot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Astrid CLI  ·  Tech 0.907  ·  Hit@10 0.975  ·  MTTC 2.88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29200"/>
            <a:ext cx="29260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9320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Live demo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5029200"/>
            <a:ext cx="29260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509320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Reproduce: local_evaluator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5029200"/>
            <a:ext cx="29260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509320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Track 4 · CSJ 50k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TechJam 2026 Track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000"/>
          </a:xfrm>
          <a:prstGeom prst="rect">
            <a:avLst/>
          </a:prstGeom>
          <a:solidFill>
            <a:srgbClr val="C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C864"/>
                </a:solidFill>
                <a:latin typeface="Calibri"/>
              </a:rPr>
              <a:t>TRANSITION  ·  FROM SLIDES TO LIVE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EF2"/>
                </a:solidFill>
                <a:latin typeface="Calibri"/>
              </a:rPr>
              <a:t>Gallery  ·  Architecture → Metrics → Astrid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6A3"/>
                </a:solidFill>
                <a:latin typeface="Calibri"/>
              </a:rPr>
              <a:t>Same offline stack you just saw — now running in the terminal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73152" cy="2377440"/>
          </a:xfrm>
          <a:prstGeom prst="rect">
            <a:avLst/>
          </a:prstGeom>
          <a:solidFill>
            <a:srgbClr val="C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84FF"/>
                </a:solidFill>
                <a:latin typeface="Calibri"/>
              </a:rPr>
              <a:t>01 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SessionState</a:t>
            </a:r>
          </a:p>
          <a:p>
            <a:pPr algn="l"/>
            <a:r>
              <a:rPr sz="1500" b="0">
                <a:solidFill>
                  <a:srgbClr val="8A96A3"/>
                </a:solidFill>
                <a:latin typeface="Calibri"/>
              </a:rPr>
              <a:t>soft · disclosed · override</a:t>
            </a:r>
          </a:p>
          <a:p>
            <a:pPr algn="l"/>
            <a:r>
              <a:rPr sz="1500" b="0">
                <a:solidFill>
                  <a:srgbClr val="8A96A3"/>
                </a:solidFill>
                <a:latin typeface="Calibri"/>
              </a:rPr>
              <a:t>family · audience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92024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920240"/>
            <a:ext cx="73152" cy="2377440"/>
          </a:xfrm>
          <a:prstGeom prst="rect">
            <a:avLst/>
          </a:prstGeom>
          <a:solidFill>
            <a:srgbClr val="5E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48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ED7E0"/>
                </a:solidFill>
                <a:latin typeface="Calibri"/>
              </a:rPr>
              <a:t>02  RETRIEVE + 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6974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FTS5 ∪ hash dense</a:t>
            </a:r>
          </a:p>
          <a:p>
            <a:pPr algn="l"/>
            <a:r>
              <a:rPr sz="1500" b="0">
                <a:solidFill>
                  <a:srgbClr val="8A96A3"/>
                </a:solidFill>
                <a:latin typeface="Calibri"/>
              </a:rPr>
              <a:t>evidence coverage×exact</a:t>
            </a:r>
          </a:p>
          <a:p>
            <a:pPr algn="l"/>
            <a:r>
              <a:rPr sz="1500" b="0">
                <a:solidFill>
                  <a:srgbClr val="8A96A3"/>
                </a:solidFill>
                <a:latin typeface="Calibri"/>
              </a:rPr>
              <a:t>margin-gated Top-K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80" y="192024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80" y="1920240"/>
            <a:ext cx="73152" cy="2377440"/>
          </a:xfrm>
          <a:prstGeom prst="rect">
            <a:avLst/>
          </a:prstGeom>
          <a:solidFill>
            <a:srgbClr val="F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1488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C864"/>
                </a:solidFill>
                <a:latin typeface="Calibri"/>
              </a:rPr>
              <a:t>03  ASTRID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6974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2"/>
                </a:solidFill>
                <a:latin typeface="Calibri"/>
              </a:rPr>
              <a:t>cli_chat.py --dense hash</a:t>
            </a:r>
          </a:p>
          <a:p>
            <a:pPr algn="l"/>
            <a:r>
              <a:rPr sz="1500" b="0">
                <a:solidFill>
                  <a:srgbClr val="8A96A3"/>
                </a:solidFill>
                <a:latin typeface="Calibri"/>
              </a:rPr>
              <a:t>other-first clarify</a:t>
            </a:r>
          </a:p>
          <a:p>
            <a:pPr algn="l"/>
            <a:r>
              <a:rPr sz="1500" b="0">
                <a:solidFill>
                  <a:srgbClr val="8A96A3"/>
                </a:solidFill>
                <a:latin typeface="Calibri"/>
              </a:rPr>
              <a:t>recommend each 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ED7E0"/>
                </a:solidFill>
                <a:latin typeface="Calibri"/>
              </a:rPr>
              <a:t>Next: Astrid multi-turn demo  ·  offline  ·  Tech ~0.909  ·  Hit@10 0.975  ·  0 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83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6A3"/>
                </a:solidFill>
                <a:latin typeface="Calibri"/>
              </a:rPr>
              <a:t>ShopPilot  ·  TechJam 2026 Track 4  ·  gallery transition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