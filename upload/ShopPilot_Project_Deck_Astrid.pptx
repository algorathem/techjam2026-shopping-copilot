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Weak BM25</c:v>
                </c:pt>
              </c:strCache>
            </c:strRef>
          </c:tx>
          <c:spPr>
            <a:solidFill>
              <a:srgbClr val="64748B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1000" b="1"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Tech</c:v>
                </c:pt>
                <c:pt idx="1">
                  <c:v>Hit@10</c:v>
                </c:pt>
                <c:pt idx="2">
                  <c:v>MRR</c:v>
                </c:pt>
                <c:pt idx="3">
                  <c:v>Efficiency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0.107</c:v>
                </c:pt>
                <c:pt idx="1">
                  <c:v>0.125</c:v>
                </c:pt>
                <c:pt idx="2">
                  <c:v>0.068</c:v>
                </c:pt>
                <c:pt idx="3">
                  <c:v>0.119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ShopPilot</c:v>
                </c:pt>
              </c:strCache>
            </c:strRef>
          </c:tx>
          <c:spPr>
            <a:solidFill>
              <a:srgbClr val="00D4FF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1000" b="1"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Tech</c:v>
                </c:pt>
                <c:pt idx="1">
                  <c:v>Hit@10</c:v>
                </c:pt>
                <c:pt idx="2">
                  <c:v>MRR</c:v>
                </c:pt>
                <c:pt idx="3">
                  <c:v>Efficiency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0.907</c:v>
                </c:pt>
                <c:pt idx="1">
                  <c:v>0.975</c:v>
                </c:pt>
                <c:pt idx="2">
                  <c:v>0.858</c:v>
                </c:pt>
                <c:pt idx="3">
                  <c:v>0.813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A55"/>
            </a:solidFill>
          </a:ln>
        </c:spPr>
        <c:txPr>
          <a:bodyPr/>
          <a:lstStyle/>
          <a:p>
            <a:pPr>
              <a:defRPr sz="1100">
                <a:solidFill>
                  <a:srgbClr val="8B9BB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A3A55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3A55"/>
            </a:solidFill>
          </a:ln>
        </c:spPr>
        <c:txPr>
          <a:bodyPr/>
          <a:lstStyle/>
          <a:p>
            <a:pPr>
              <a:defRPr sz="1000">
                <a:solidFill>
                  <a:srgbClr val="8B9BB4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8B9BB4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Hit@10</c:v>
                </c:pt>
              </c:strCache>
            </c:strRef>
          </c:tx>
          <c:spPr>
            <a:solidFill>
              <a:srgbClr val="00D4FF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1000" b="1"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Buying</c:v>
                </c:pt>
                <c:pt idx="1">
                  <c:v>Browsing</c:v>
                </c:pt>
                <c:pt idx="2">
                  <c:v>Override</c:v>
                </c:pt>
                <c:pt idx="3">
                  <c:v>Boundary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0.975</c:v>
                </c:pt>
                <c:pt idx="1">
                  <c:v>0.975</c:v>
                </c:pt>
                <c:pt idx="2">
                  <c:v>0.967</c:v>
                </c:pt>
                <c:pt idx="3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MRR</c:v>
                </c:pt>
              </c:strCache>
            </c:strRef>
          </c:tx>
          <c:spPr>
            <a:solidFill>
              <a:srgbClr val="FF2D8F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1000" b="1">
                    <a:solidFill>
                      <a:srgbClr val="F8FAFC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Buying</c:v>
                </c:pt>
                <c:pt idx="1">
                  <c:v>Browsing</c:v>
                </c:pt>
                <c:pt idx="2">
                  <c:v>Override</c:v>
                </c:pt>
                <c:pt idx="3">
                  <c:v>Boundary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0.856</c:v>
                </c:pt>
                <c:pt idx="1">
                  <c:v>0.846</c:v>
                </c:pt>
                <c:pt idx="2">
                  <c:v>0.868</c:v>
                </c:pt>
                <c:pt idx="3">
                  <c:v>0.933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A3A55"/>
            </a:solidFill>
          </a:ln>
        </c:spPr>
        <c:txPr>
          <a:bodyPr/>
          <a:lstStyle/>
          <a:p>
            <a:pPr>
              <a:defRPr sz="1100">
                <a:solidFill>
                  <a:srgbClr val="8B9BB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2A3A55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3A55"/>
            </a:solidFill>
          </a:ln>
        </c:spPr>
        <c:txPr>
          <a:bodyPr/>
          <a:lstStyle/>
          <a:p>
            <a:pPr>
              <a:defRPr sz="1000">
                <a:solidFill>
                  <a:srgbClr val="8B9BB4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8B9BB4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46720" y="-109728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1A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-1371600" y="4114800"/>
            <a:ext cx="5029200" cy="4114800"/>
          </a:xfrm>
          <a:prstGeom prst="roundRect">
            <a:avLst>
              <a:gd name="adj" fmla="val 50000"/>
            </a:avLst>
          </a:prstGeom>
          <a:solidFill>
            <a:srgbClr val="0C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2D8F"/>
                </a:solidFill>
                <a:latin typeface="Calibri"/>
              </a:rPr>
              <a:t>TECHJAM 2026  ·  TRACK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800" b="1">
                <a:solidFill>
                  <a:srgbClr val="00D4FF"/>
                </a:solidFill>
                <a:latin typeface="Calibri"/>
              </a:rPr>
              <a:t>Shop</a:t>
            </a:r>
            <a:r>
              <a:rPr sz="5800" b="1">
                <a:solidFill>
                  <a:srgbClr val="FF2D8F"/>
                </a:solidFill>
                <a:latin typeface="Calibri"/>
              </a:rPr>
              <a:t>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0">
                <a:solidFill>
                  <a:srgbClr val="F8FAFC"/>
                </a:solidFill>
                <a:latin typeface="Calibri"/>
              </a:rPr>
              <a:t>Offline-first multi-turn shopping copilot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94760"/>
            <a:ext cx="2468880" cy="502920"/>
          </a:xfrm>
          <a:prstGeom prst="roundRect">
            <a:avLst>
              <a:gd name="adj" fmla="val 30000"/>
            </a:avLst>
          </a:prstGeom>
          <a:solidFill>
            <a:srgbClr val="152033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58768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Hybrid FTS + dense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794760"/>
            <a:ext cx="2468880" cy="502920"/>
          </a:xfrm>
          <a:prstGeom prst="roundRect">
            <a:avLst>
              <a:gd name="adj" fmla="val 30000"/>
            </a:avLst>
          </a:prstGeom>
          <a:solidFill>
            <a:srgbClr val="152033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858768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Stateful DST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794760"/>
            <a:ext cx="2468880" cy="502920"/>
          </a:xfrm>
          <a:prstGeom prst="roundRect">
            <a:avLst>
              <a:gd name="adj" fmla="val 30000"/>
            </a:avLst>
          </a:prstGeom>
          <a:solidFill>
            <a:srgbClr val="152033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858768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Clarify ≤10 turns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3794760"/>
            <a:ext cx="2468880" cy="502920"/>
          </a:xfrm>
          <a:prstGeom prst="roundRect">
            <a:avLst>
              <a:gd name="adj" fmla="val 30000"/>
            </a:avLst>
          </a:prstGeom>
          <a:solidFill>
            <a:srgbClr val="152033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0" y="3858768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Tech 0.907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54880"/>
            <a:ext cx="10058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8B9BB4"/>
                </a:solidFill>
                <a:latin typeface="Calibri"/>
              </a:rPr>
              <a:t>Demo UI: Astrid CLI  ·  github.com/algorathem/techjam2026-shopping-copilot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Public 200  ·  Hit@10 0.975  ·  MTTC 2.88  ·  tokens 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 ·  Astrid theme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01  ·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Calibri"/>
              </a:rPr>
              <a:t>Keyword search breaks on real shopping 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Vague goals, dual-meaning SKUs, mid-session mind-change, and a hard ≤10-turn budget.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274320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D4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Vague queries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"something nice for summer"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55448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554480"/>
            <a:ext cx="2743200" cy="73152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8288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2D8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28600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Ambiguity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92608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dress vs dress shoes  ·  gift for my son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55448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554480"/>
            <a:ext cx="274320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8288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28600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Mind-change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2608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intent override mid-session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554480"/>
            <a:ext cx="2743200" cy="3200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554480"/>
            <a:ext cx="2743200" cy="7315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182880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286000"/>
            <a:ext cx="2286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8FAFC"/>
                </a:solidFill>
                <a:latin typeface="Calibri"/>
              </a:rPr>
              <a:t>Turn budget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926080"/>
            <a:ext cx="22860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miss after turn 10 → session fails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029200"/>
            <a:ext cx="11155680" cy="1234440"/>
          </a:xfrm>
          <a:prstGeom prst="roundRect">
            <a:avLst>
              <a:gd name="adj" fmla="val 8000"/>
            </a:avLst>
          </a:prstGeom>
          <a:solidFill>
            <a:srgbClr val="1A26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212080"/>
            <a:ext cx="10698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2D8F"/>
                </a:solidFill>
                <a:latin typeface="Calibri"/>
              </a:rPr>
              <a:t>Scored job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8FAFC"/>
                </a:solidFill>
                <a:latin typeface="Calibri"/>
              </a:rPr>
              <a:t>Find the hidden parent_asin in ≤10 turns on a frozen 50k CSJ catalog  ·  Hit@10 · MRR · MTTC → TechnicalScore = 0.5·Hit + 0.3·MRR + 0.2·Efficiency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02  ·  SOLUTION + LITERATURE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8FAFC"/>
                </a:solidFill>
                <a:latin typeface="Calibri"/>
              </a:rPr>
              <a:t>Headless offline agent — classical CRS spine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respond() → message + one ask_attribute + Top-10  ·  No required LLM  ·  Same stack as CRS/DST/CQ literature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0D4FF"/>
                </a:solidFill>
                <a:latin typeface="Calibri"/>
              </a:rPr>
              <a:t>SHIPPED PIPELINE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554480"/>
            <a:ext cx="384048" cy="38404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300" b="1">
                <a:solidFill>
                  <a:srgbClr val="0A121F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1481328"/>
            <a:ext cx="48463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1481328"/>
            <a:ext cx="73152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153619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Ingest / NLU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810512"/>
            <a:ext cx="4480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buy·browse · family · audience · slots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1938528"/>
            <a:ext cx="36576" cy="36576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920" y="2377440"/>
            <a:ext cx="384048" cy="384048"/>
          </a:xfrm>
          <a:prstGeom prst="ellipse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300" b="1">
                <a:solidFill>
                  <a:srgbClr val="0A121F"/>
                </a:solidFill>
                <a:latin typeface="Calibri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2304288"/>
            <a:ext cx="48463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" y="2304288"/>
            <a:ext cx="73152" cy="64008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35915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SessionState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633472"/>
            <a:ext cx="4480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soft | disclosed | override · DST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" y="2761488"/>
            <a:ext cx="36576" cy="36576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2920" y="3200400"/>
            <a:ext cx="384048" cy="384048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300" b="1">
                <a:solidFill>
                  <a:srgbClr val="0A121F"/>
                </a:solidFill>
                <a:latin typeface="Calibri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3127248"/>
            <a:ext cx="48463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51560" y="3127248"/>
            <a:ext cx="73152" cy="640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0160" y="318211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Hybrid retrieve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456432"/>
            <a:ext cx="4480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FTS5 BM25 + dense hash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" y="3584448"/>
            <a:ext cx="36576" cy="36576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2920" y="4023360"/>
            <a:ext cx="384048" cy="38404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300" b="1">
                <a:solidFill>
                  <a:srgbClr val="0A121F"/>
                </a:solidFill>
                <a:latin typeface="Calibri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3950208"/>
            <a:ext cx="48463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1560" y="3950208"/>
            <a:ext cx="73152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400507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Clarify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279392"/>
            <a:ext cx="4480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other-first ladder · skip filled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6656" y="4407408"/>
            <a:ext cx="36576" cy="365760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2920" y="4846320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</a:pPr>
            <a:r>
              <a:rPr sz="1300" b="1">
                <a:solidFill>
                  <a:srgbClr val="0A121F"/>
                </a:solidFill>
                <a:latin typeface="Calibri"/>
              </a:rP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" y="4773168"/>
            <a:ext cx="48463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51560" y="4773168"/>
            <a:ext cx="73152" cy="640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4828032"/>
            <a:ext cx="4480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Rank + respond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102352"/>
            <a:ext cx="4480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coverage · Top-10 + ask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1234440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LITERATURE → MODULE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1554480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0" y="1554480"/>
            <a:ext cx="73152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162763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D4FF"/>
                </a:solidFill>
                <a:latin typeface="Calibri"/>
              </a:rPr>
              <a:t>CRS pipeline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1627632"/>
            <a:ext cx="2834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NLU → DST → Policy → 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188366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→  our hot path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2286000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2286000"/>
            <a:ext cx="73152" cy="64008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235915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A855F7"/>
                </a:solidFill>
                <a:latin typeface="Calibri"/>
              </a:rPr>
              <a:t>DST (1712.10224)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2359152"/>
            <a:ext cx="2834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slot–value belief state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261518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→  SessionState + sources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3017520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3017520"/>
            <a:ext cx="73152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309067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BBF24"/>
                </a:solidFill>
                <a:latin typeface="Calibri"/>
              </a:rPr>
              <a:t>Qulac / CQs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3090672"/>
            <a:ext cx="2834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ask + retrieve each turn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3346703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→  Top-10 + ask_attribute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3749040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17920" y="3749040"/>
            <a:ext cx="73152" cy="64008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382219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2D8F"/>
                </a:solidFill>
                <a:latin typeface="Calibri"/>
              </a:rPr>
              <a:t>Bayesian max-IG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3822192"/>
            <a:ext cx="2834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entropy ask selection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407822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→  REJECTED · Tech ~0.72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17920" y="4480560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17920" y="4480560"/>
            <a:ext cx="73152" cy="640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46520" y="455371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Corpus-informed CQ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4553712"/>
            <a:ext cx="2834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only catalog-supported asks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6520" y="480974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→  facet chips in message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17920" y="5212080"/>
            <a:ext cx="5532120" cy="64008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17920" y="5212080"/>
            <a:ext cx="73152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46520" y="5285232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00D4FF"/>
                </a:solidFill>
                <a:latin typeface="Calibri"/>
              </a:rPr>
              <a:t>Hybrid IR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86800" y="5285232"/>
            <a:ext cx="2834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BM25 + dense late fusion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6520" y="5541264"/>
            <a:ext cx="5029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8FAFC"/>
                </a:solidFill>
                <a:latin typeface="Calibri"/>
              </a:rPr>
              <a:t>→  FTS5 + hash dense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03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8FAFC"/>
                </a:solidFill>
                <a:latin typeface="Calibri"/>
              </a:rPr>
              <a:t>State-first multi-turn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Native shapes only  ·  Tech 0.909 · Hit 0.975 · 0 tokens  ·  offline default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00D4FF"/>
                </a:solidFill>
                <a:latin typeface="Calibri"/>
              </a:rPr>
              <a:t>ENTRY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389888"/>
            <a:ext cx="1417320" cy="1234440"/>
          </a:xfrm>
          <a:prstGeom prst="roundRect">
            <a:avLst>
              <a:gd name="adj" fmla="val 10000"/>
            </a:avLst>
          </a:prstGeom>
          <a:solidFill>
            <a:srgbClr val="1A263C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1325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CLI / Eval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B9BB4"/>
                </a:solidFill>
                <a:latin typeface="Calibri"/>
              </a:rPr>
              <a:t>reset·respond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57400"/>
            <a:ext cx="13258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User turn t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8B9BB4"/>
                </a:solidFill>
                <a:latin typeface="Calibri"/>
              </a:rPr>
              <a:t>text+session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188720"/>
            <a:ext cx="7315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HOT PATH  ·  Agent.respond (sync)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0" y="1417320"/>
            <a:ext cx="1691640" cy="11430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11680" y="1572768"/>
            <a:ext cx="310896" cy="310896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0A121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1600200"/>
            <a:ext cx="1143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011680"/>
            <a:ext cx="1508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slots·family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21024" y="1874519"/>
            <a:ext cx="146304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76472" y="1417320"/>
            <a:ext cx="1691640" cy="11430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67912" y="1572768"/>
            <a:ext cx="310896" cy="310896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0A121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33672" y="1600200"/>
            <a:ext cx="1143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Retrieve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912" y="2011680"/>
            <a:ext cx="1508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FTS+dense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477256" y="1874519"/>
            <a:ext cx="146304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32704" y="1417320"/>
            <a:ext cx="1691640" cy="11430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24144" y="1572768"/>
            <a:ext cx="310896" cy="31089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0A121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9904" y="1600200"/>
            <a:ext cx="1143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Rank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4144" y="2011680"/>
            <a:ext cx="1508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coverage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333488" y="1874519"/>
            <a:ext cx="146304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88936" y="1417320"/>
            <a:ext cx="1691640" cy="11430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580376" y="1572768"/>
            <a:ext cx="310896" cy="310896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0A121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1600200"/>
            <a:ext cx="1143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0376" y="2011680"/>
            <a:ext cx="1508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other-first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189720" y="1874519"/>
            <a:ext cx="146304" cy="164592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345168" y="1417320"/>
            <a:ext cx="1691640" cy="11430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36608" y="1572768"/>
            <a:ext cx="310896" cy="310896"/>
          </a:xfrm>
          <a:prstGeom prst="ellipse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sz="1200" b="1">
                <a:solidFill>
                  <a:srgbClr val="0A121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1600200"/>
            <a:ext cx="1143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Respond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36608" y="2011680"/>
            <a:ext cx="1508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8B9BB4"/>
                </a:solidFill>
                <a:latin typeface="Calibri"/>
              </a:rPr>
              <a:t>Top-10+ask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737360" y="1874519"/>
            <a:ext cx="146304" cy="164592"/>
          </a:xfrm>
          <a:prstGeom prst="rightArrow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018520" y="1691640"/>
            <a:ext cx="914400" cy="548640"/>
          </a:xfrm>
          <a:prstGeom prst="roundRect">
            <a:avLst>
              <a:gd name="adj" fmla="val 15000"/>
            </a:avLst>
          </a:prstGeom>
          <a:solidFill>
            <a:srgbClr val="1A263C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18520" y="1810512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8FAFC"/>
                </a:solidFill>
                <a:latin typeface="Calibri"/>
              </a:rPr>
              <a:t>→ client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0808208" y="1874519"/>
            <a:ext cx="164592" cy="164592"/>
          </a:xfrm>
          <a:prstGeom prst="rightArrow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own Arrow 39"/>
          <p:cNvSpPr/>
          <p:nvPr/>
        </p:nvSpPr>
        <p:spPr>
          <a:xfrm>
            <a:off x="2560320" y="2651760"/>
            <a:ext cx="164592" cy="274320"/>
          </a:xfrm>
          <a:prstGeom prst="down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88920" y="2697480"/>
            <a:ext cx="50292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write</a:t>
            </a:r>
          </a:p>
        </p:txBody>
      </p:sp>
      <p:sp>
        <p:nvSpPr>
          <p:cNvPr id="42" name="Up Arrow 41"/>
          <p:cNvSpPr/>
          <p:nvPr/>
        </p:nvSpPr>
        <p:spPr>
          <a:xfrm>
            <a:off x="4297680" y="2651760"/>
            <a:ext cx="164592" cy="274320"/>
          </a:xfrm>
          <a:prstGeom prst="up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6280" y="2697480"/>
            <a:ext cx="4572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1">
                <a:solidFill>
                  <a:srgbClr val="34D399"/>
                </a:solidFill>
                <a:latin typeface="Calibri"/>
              </a:rPr>
              <a:t>read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0040" y="3063240"/>
            <a:ext cx="5394960" cy="306324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3063240"/>
            <a:ext cx="91440" cy="3063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20040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Calibri"/>
              </a:rPr>
              <a:t>SessionState  ·  mutable RAM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3611880"/>
            <a:ext cx="502920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Slots  soft|disclosed|override · filled/asked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Route  family · gift audience · buy/browse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Clean  soft-only wipe · never re-ask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Loop   past state + current text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INVARIANT  t3 "black" = dress+plus+black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97880" y="3063240"/>
            <a:ext cx="3017520" cy="306324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897880" y="3063240"/>
            <a:ext cx="91440" cy="30632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0" y="3200400"/>
            <a:ext cx="26517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A855F7"/>
                </a:solidFill>
                <a:latin typeface="Calibri"/>
              </a:rPr>
              <a:t>Catalog  ·  immutable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26480" y="3611880"/>
            <a:ext cx="265176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FTS5 BM25 in-memory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Dense hash 512-d default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MiniLM opt-in only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_products · 50k CSJ freeze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no writes at turn time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98280" y="3063240"/>
            <a:ext cx="2788920" cy="306324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98280" y="3063240"/>
            <a:ext cx="91440" cy="306324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26880" y="3200400"/>
            <a:ext cx="2423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2D8F"/>
                </a:solidFill>
                <a:latin typeface="Calibri"/>
              </a:rPr>
              <a:t>Optional + Measure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3611880"/>
            <a:ext cx="242316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LLM OFF · not on score path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slots NLU · rerank top-20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timeout → rules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Hit·MRR·MTTC → Tech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8FAFC"/>
                </a:solidFill>
                <a:latin typeface="Calibri"/>
              </a:rPr>
              <a:t>public 200 · guardrail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20040" y="6236208"/>
            <a:ext cx="11567160" cy="274320"/>
          </a:xfrm>
          <a:prstGeom prst="roundRect">
            <a:avLst>
              <a:gd name="adj" fmla="val 15000"/>
            </a:avLst>
          </a:prstGeom>
          <a:solidFill>
            <a:srgbClr val="1A263C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20040" y="6254496"/>
            <a:ext cx="115671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00D4FF"/>
                </a:solidFill>
                <a:latin typeface="Calibri"/>
              </a:rPr>
              <a:t>next turn ↺ same session_id   ·   state write/read   ·   catalog read-only   ·   LLM off score path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04  ·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Calibri"/>
              </a:rPr>
              <a:t>Public 200 — weak BM25 vs ShopPilot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Official local_evaluator · SHOPPILOT_DENSE=hash · deterministic seeds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27432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618488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TechnicalScore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92024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Calibri"/>
              </a:rPr>
              <a:t>0.907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51460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00D4FF"/>
                </a:solidFill>
                <a:latin typeface="Calibri"/>
              </a:rPr>
              <a:t>from 0.107  ·  ~8.5×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1732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417320"/>
            <a:ext cx="2743200" cy="54864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1618488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Hit@10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192024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Calibri"/>
              </a:rPr>
              <a:t>0.975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51460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F2D8F"/>
                </a:solidFill>
                <a:latin typeface="Calibri"/>
              </a:rPr>
              <a:t>from 0.125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41732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417320"/>
            <a:ext cx="27432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1618488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MRR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192024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Calibri"/>
              </a:rPr>
              <a:t>0.858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51460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A855F7"/>
                </a:solidFill>
                <a:latin typeface="Calibri"/>
              </a:rPr>
              <a:t>from 0.068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41732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417320"/>
            <a:ext cx="274320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1618488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MTTC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1920240"/>
            <a:ext cx="23774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F8FAFC"/>
                </a:solidFill>
                <a:latin typeface="Calibri"/>
              </a:rPr>
              <a:t>2.88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251460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BBF24"/>
                </a:solidFill>
                <a:latin typeface="Calibri"/>
              </a:rPr>
              <a:t>from 9.81 turns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200400"/>
            <a:ext cx="6858000" cy="310896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291840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8B9BB4"/>
                </a:solidFill>
                <a:latin typeface="Calibri"/>
              </a:rPr>
              <a:t>Metric comparison (higher better; MTTC inverted scale n/a)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640080" y="3566160"/>
          <a:ext cx="6583680" cy="2606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7589520" y="3200400"/>
            <a:ext cx="4069080" cy="310896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0" y="3200400"/>
            <a:ext cx="73152" cy="310896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3383280"/>
            <a:ext cx="3657600" cy="2743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2D8F"/>
                </a:solidFill>
                <a:latin typeface="Calibri"/>
              </a:rPr>
              <a:t>What moved the needle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00" b="0">
                <a:solidFill>
                  <a:srgbClr val="8B9BB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Override hygiene (soft-only wipe)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Hybrid dense hash lane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Family + audience routing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other-first clarify policy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Multi-slot freeform atomize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Cold-start profile/rating priors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8B9BB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Each kept only if Tech ≥ floor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Tokens default path: 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05  ·  BY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Calibri"/>
              </a:rPr>
              <a:t>Hit@10 holds across buying, browse, override,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Override pays more MTTC (mind-change cost) but still Hit 0.967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6949440" cy="4754880"/>
          </a:xfrm>
          <a:prstGeom prst="roundRect">
            <a:avLst>
              <a:gd name="adj" fmla="val 8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0D4FF"/>
                </a:solidFill>
                <a:latin typeface="Calibri"/>
              </a:rPr>
              <a:t>Hit@10 by scenario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828800"/>
          <a:ext cx="66751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26679" y="1417320"/>
            <a:ext cx="3931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2D8F"/>
                </a:solidFill>
                <a:latin typeface="Calibri"/>
              </a:rPr>
              <a:t>MTTC (turns to first hit)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874519"/>
            <a:ext cx="3977639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874519"/>
            <a:ext cx="73152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039111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Buying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11679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0D4FF"/>
                </a:solidFill>
                <a:latin typeface="Calibri"/>
              </a:rPr>
              <a:t>2.45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2468879"/>
            <a:ext cx="3474720" cy="128016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79" y="2468879"/>
            <a:ext cx="851306" cy="128016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80960" y="2926079"/>
            <a:ext cx="3977639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0" y="2926079"/>
            <a:ext cx="73152" cy="9144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3090671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Browsing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063239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2D8F"/>
                </a:solidFill>
                <a:latin typeface="Calibri"/>
              </a:rPr>
              <a:t>2.79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3520439"/>
            <a:ext cx="3474720" cy="128016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955279" y="3520439"/>
            <a:ext cx="969446" cy="128016"/>
          </a:xfrm>
          <a:prstGeom prst="roundRect">
            <a:avLst>
              <a:gd name="adj" fmla="val 50000"/>
            </a:avLst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80960" y="3977639"/>
            <a:ext cx="3977639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80960" y="3977639"/>
            <a:ext cx="73152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4142231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Override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114799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00D4FF"/>
                </a:solidFill>
                <a:latin typeface="Calibri"/>
              </a:rPr>
              <a:t>4.20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79" y="4571999"/>
            <a:ext cx="3474720" cy="128016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55279" y="4571999"/>
            <a:ext cx="1459382" cy="128016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680960" y="5029200"/>
            <a:ext cx="3977639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80960" y="5029200"/>
            <a:ext cx="73152" cy="9144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5193792"/>
            <a:ext cx="21945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Boundary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5166360"/>
            <a:ext cx="1371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2D8F"/>
                </a:solidFill>
                <a:latin typeface="Calibri"/>
              </a:rPr>
              <a:t>3.00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5623560"/>
            <a:ext cx="3474720" cy="128016"/>
          </a:xfrm>
          <a:prstGeom prst="roundRect">
            <a:avLst>
              <a:gd name="adj" fmla="val 50000"/>
            </a:avLst>
          </a:prstGeom>
          <a:solidFill>
            <a:srgbClr val="1E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55279" y="5623560"/>
            <a:ext cx="1042415" cy="128016"/>
          </a:xfrm>
          <a:prstGeom prst="roundRect">
            <a:avLst>
              <a:gd name="adj" fmla="val 50000"/>
            </a:avLst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06  · 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Calibri"/>
              </a:rPr>
              <a:t>Astrid CLI — live multi-turn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python3 cli_chat.py --dense hash   ·   /new  /state  /quit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7040880" cy="4754880"/>
          </a:xfrm>
          <a:prstGeom prst="roundRect">
            <a:avLst>
              <a:gd name="adj" fmla="val 8000"/>
            </a:avLst>
          </a:prstGeom>
          <a:solidFill>
            <a:srgbClr val="08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7040880" cy="365760"/>
          </a:xfrm>
          <a:prstGeom prst="rect">
            <a:avLst/>
          </a:prstGeom>
          <a:solidFill>
            <a:srgbClr val="12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08760"/>
            <a:ext cx="146304" cy="146304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41832" y="1508760"/>
            <a:ext cx="146304" cy="146304"/>
          </a:xfrm>
          <a:prstGeom prst="ellipse">
            <a:avLst/>
          </a:prstGeom>
          <a:solidFill>
            <a:srgbClr val="FEB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97864" y="1508760"/>
            <a:ext cx="146304" cy="146304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4630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astrid — dense=hash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6583680" cy="4023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$ python3 cli_chat.py --dense hash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8B9BB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2D8F"/>
                </a:solidFill>
                <a:latin typeface="Calibri"/>
              </a:rPr>
              <a:t>  Astrid  ·  quiet clarity for every aisle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8B9BB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00D4FF"/>
                </a:solidFill>
                <a:latin typeface="Calibri"/>
              </a:rPr>
              <a:t>  You · shoes for my son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  Astrid: Got it (footwear; boys). Any color…?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BBF24"/>
                </a:solidFill>
                <a:latin typeface="Calibri"/>
              </a:rPr>
              <a:t>  ↳ ask · other     Top-3 footwear titles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8B9BB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00D4FF"/>
                </a:solidFill>
                <a:latin typeface="Calibri"/>
              </a:rPr>
              <a:t>  You · Actually forget sneakers, dress shoes size 9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F8FAFC"/>
                </a:solidFill>
                <a:latin typeface="Calibri"/>
              </a:rPr>
              <a:t>  Astrid: Updated (footwear; size 9). Color?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B7185"/>
                </a:solidFill>
                <a:latin typeface="Calibri"/>
              </a:rPr>
              <a:t>  ↳ override wiped soft prefs · kept size path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8B9BB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B9BB4"/>
                </a:solidFill>
                <a:latin typeface="Calibri"/>
              </a:rPr>
              <a:t>  /state → family=footwear  size=9  asked={other}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417320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1417320"/>
            <a:ext cx="73152" cy="13716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645920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0D4FF"/>
                </a:solidFill>
                <a:latin typeface="Calibri"/>
              </a:rPr>
              <a:t>Vague → clarify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57400"/>
            <a:ext cx="3474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dress + exploring → other → plus size locks size (no re-ask)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2971800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2971800"/>
            <a:ext cx="73152" cy="13716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3200400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2D8F"/>
                </a:solidFill>
                <a:latin typeface="Calibri"/>
              </a:rPr>
              <a:t>Family lock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611880"/>
            <a:ext cx="3474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"dress sandals" → footwear, not garment dresses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526280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0" y="4526280"/>
            <a:ext cx="73152" cy="13716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4754880"/>
            <a:ext cx="34747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A855F7"/>
                </a:solidFill>
                <a:latin typeface="Calibri"/>
              </a:rPr>
              <a:t>Intent override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166360"/>
            <a:ext cx="34747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B9BB4"/>
                </a:solidFill>
                <a:latin typeface="Calibri"/>
              </a:rPr>
              <a:t>running shoes → dress shoes; size 9 persists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3657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2D8F"/>
                </a:solidFill>
                <a:latin typeface="Calibri"/>
              </a:rPr>
              <a:t>07  · 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8912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8FAFC"/>
                </a:solidFill>
                <a:latin typeface="Calibri"/>
              </a:rPr>
              <a:t>Kit metrics → merchant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Honest framing: offline simulation ≠ live GMV A/B — same job-to-be-done as conversational commerce.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91440" cy="9144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B9BB4"/>
                </a:solidFill>
                <a:latin typeface="Calibri"/>
              </a:rPr>
              <a:t>Hit@10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664208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0D4FF"/>
                </a:solidFill>
                <a:latin typeface="Calibri"/>
              </a:rPr>
              <a:t>0.975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737360"/>
            <a:ext cx="6217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Findability — target ASIN in top 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1460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14600"/>
            <a:ext cx="91440" cy="9144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770632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B9BB4"/>
                </a:solidFill>
                <a:latin typeface="Calibri"/>
              </a:rPr>
              <a:t>MRR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715768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2D8F"/>
                </a:solidFill>
                <a:latin typeface="Calibri"/>
              </a:rPr>
              <a:t>0.858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788920"/>
            <a:ext cx="6217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Rank quality — earlier positions win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6616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566160"/>
            <a:ext cx="91440" cy="9144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22192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B9BB4"/>
                </a:solidFill>
                <a:latin typeface="Calibri"/>
              </a:rPr>
              <a:t>MTTC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67328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A855F7"/>
                </a:solidFill>
                <a:latin typeface="Calibri"/>
              </a:rPr>
              <a:t>2.88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840480"/>
            <a:ext cx="6217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Cost / cognitive load — fewer refine loops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61772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5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617720"/>
            <a:ext cx="91440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873752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B9BB4"/>
                </a:solidFill>
                <a:latin typeface="Calibri"/>
              </a:rPr>
              <a:t>Tokens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818888"/>
            <a:ext cx="2011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BBF24"/>
                </a:solidFill>
                <a:latin typeface="Calibri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4892040"/>
            <a:ext cx="6217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  <a:latin typeface="Calibri"/>
              </a:rPr>
              <a:t>Offline default — no paid LLM on score 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ShopPilot · TechJam 2026 Track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0" y="-914400"/>
            <a:ext cx="5486400" cy="5029200"/>
          </a:xfrm>
          <a:prstGeom prst="roundRect">
            <a:avLst>
              <a:gd name="adj" fmla="val 50000"/>
            </a:avLst>
          </a:prstGeom>
          <a:solidFill>
            <a:srgbClr val="1A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097280" y="3840480"/>
            <a:ext cx="4572000" cy="4114800"/>
          </a:xfrm>
          <a:prstGeom prst="roundRect">
            <a:avLst>
              <a:gd name="adj" fmla="val 50000"/>
            </a:avLst>
          </a:prstGeom>
          <a:solidFill>
            <a:srgbClr val="0C2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" y="0"/>
            <a:ext cx="36576" cy="6858000"/>
          </a:xfrm>
          <a:prstGeom prst="rect">
            <a:avLst/>
          </a:prstGeom>
          <a:solidFill>
            <a:srgbClr val="FF2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2D8F"/>
                </a:solidFill>
                <a:latin typeface="Calibri"/>
              </a:rPr>
              <a:t>THANKS  · 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00D4FF"/>
                </a:solidFill>
                <a:latin typeface="Calibri"/>
              </a:rPr>
              <a:t>Shop</a:t>
            </a:r>
            <a:r>
              <a:rPr sz="4800" b="1">
                <a:solidFill>
                  <a:srgbClr val="FF2D8F"/>
                </a:solidFill>
                <a:latin typeface="Calibri"/>
              </a:rPr>
              <a:t>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10058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8FAFC"/>
                </a:solidFill>
                <a:latin typeface="Calibri"/>
              </a:rPr>
              <a:t>Offline-first multi-turn shopping copilot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00D4FF"/>
                </a:solidFill>
                <a:latin typeface="Calibri"/>
              </a:rPr>
              <a:t>github.com/algorathem/techjam2026-shopping-copilot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8B9BB4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8B9BB4"/>
                </a:solidFill>
                <a:latin typeface="Calibri"/>
              </a:rPr>
              <a:t>Astrid CLI  ·  Tech 0.907  ·  Hit@10 0.975  ·  MTTC 2.88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029200"/>
            <a:ext cx="2926080" cy="502920"/>
          </a:xfrm>
          <a:prstGeom prst="roundRect">
            <a:avLst>
              <a:gd name="adj" fmla="val 30000"/>
            </a:avLst>
          </a:prstGeom>
          <a:solidFill>
            <a:srgbClr val="152033"/>
          </a:solidFill>
          <a:ln w="15875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9320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Live demo 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5029200"/>
            <a:ext cx="2926080" cy="502920"/>
          </a:xfrm>
          <a:prstGeom prst="roundRect">
            <a:avLst>
              <a:gd name="adj" fmla="val 30000"/>
            </a:avLst>
          </a:prstGeom>
          <a:solidFill>
            <a:srgbClr val="152033"/>
          </a:solidFill>
          <a:ln w="15875">
            <a:solidFill>
              <a:srgbClr val="FF2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509320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Reproduce: local_evaluator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5029200"/>
            <a:ext cx="2926080" cy="502920"/>
          </a:xfrm>
          <a:prstGeom prst="roundRect">
            <a:avLst>
              <a:gd name="adj" fmla="val 30000"/>
            </a:avLst>
          </a:prstGeom>
          <a:solidFill>
            <a:srgbClr val="152033"/>
          </a:solidFill>
          <a:ln w="1587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5093208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Track 4 · CSJ 50k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12191695" cy="36576"/>
          </a:xfrm>
          <a:prstGeom prst="rect">
            <a:avLst/>
          </a:prstGeom>
          <a:solidFill>
            <a:srgbClr val="2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656832"/>
            <a:ext cx="9601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TechJam 2026 Track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656832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